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1027101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C304B"/>
                </a:solidFill>
              </a:defRPr>
            </a:pPr>
            <a:r>
              <a:rPr dirty="0" err="1"/>
              <a:t>AgriAgent</a:t>
            </a:r>
            <a:endParaRPr dirty="0"/>
          </a:p>
          <a:p>
            <a:pPr>
              <a:defRPr sz="2300">
                <a:solidFill>
                  <a:srgbClr val="417D50"/>
                </a:solidFill>
              </a:defRPr>
            </a:pPr>
            <a:r>
              <a:rPr dirty="0"/>
              <a:t>An </a:t>
            </a:r>
            <a:r>
              <a:rPr dirty="0" err="1"/>
              <a:t>Agentic</a:t>
            </a:r>
            <a:r>
              <a:rPr dirty="0"/>
              <a:t> Multimodal Framework for Adaptive Agricultural Decision Support Using </a:t>
            </a:r>
            <a:endParaRPr lang="en-GB" dirty="0"/>
          </a:p>
          <a:p>
            <a:pPr>
              <a:defRPr sz="2300">
                <a:solidFill>
                  <a:srgbClr val="417D50"/>
                </a:solidFill>
              </a:defRPr>
            </a:pPr>
            <a:r>
              <a:rPr dirty="0"/>
              <a:t>Satellite and Weather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29000"/>
            <a:ext cx="5725735" cy="24006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>
                <a:solidFill>
                  <a:srgbClr val="2D2D2D"/>
                </a:solidFill>
              </a:defRPr>
            </a:pPr>
            <a:endParaRPr lang="en-GB" dirty="0"/>
          </a:p>
          <a:p>
            <a:br>
              <a:rPr lang="en-IN" b="1" dirty="0"/>
            </a:br>
            <a:r>
              <a:rPr lang="en-IN" b="1" dirty="0"/>
              <a:t>Mentors &amp; Guides</a:t>
            </a:r>
          </a:p>
          <a:p>
            <a:r>
              <a:rPr lang="en-IN" dirty="0" err="1"/>
              <a:t>Dr.</a:t>
            </a:r>
            <a:r>
              <a:rPr lang="en-IN" dirty="0"/>
              <a:t> D. Narayana &amp; </a:t>
            </a:r>
            <a:r>
              <a:rPr lang="en-IN" dirty="0" err="1"/>
              <a:t>Anwesh</a:t>
            </a:r>
            <a:r>
              <a:rPr lang="en-IN" dirty="0"/>
              <a:t> Kumar Reddy</a:t>
            </a:r>
            <a:endParaRPr lang="en-GB" dirty="0"/>
          </a:p>
          <a:p>
            <a:endParaRPr lang="en-IN" dirty="0"/>
          </a:p>
          <a:p>
            <a:r>
              <a:rPr lang="en-IN" b="1" dirty="0"/>
              <a:t>Project Team Members</a:t>
            </a:r>
          </a:p>
          <a:p>
            <a:r>
              <a:rPr lang="en-IN" dirty="0" err="1"/>
              <a:t>Pallavi</a:t>
            </a:r>
            <a:r>
              <a:rPr lang="en-IN" dirty="0"/>
              <a:t> B N, </a:t>
            </a:r>
            <a:r>
              <a:rPr lang="en-IN" dirty="0" err="1"/>
              <a:t>Monisha</a:t>
            </a:r>
            <a:r>
              <a:rPr lang="en-IN" dirty="0"/>
              <a:t> B R, </a:t>
            </a:r>
            <a:r>
              <a:rPr lang="en-IN" dirty="0" err="1"/>
              <a:t>Pavithra</a:t>
            </a:r>
            <a:r>
              <a:rPr lang="en-IN" dirty="0"/>
              <a:t> </a:t>
            </a:r>
            <a:r>
              <a:rPr lang="en-IN" dirty="0" err="1"/>
              <a:t>Patil</a:t>
            </a:r>
            <a:r>
              <a:rPr lang="en-IN" dirty="0"/>
              <a:t>, </a:t>
            </a:r>
            <a:r>
              <a:rPr lang="en-IN" dirty="0" err="1"/>
              <a:t>Megha</a:t>
            </a:r>
            <a:r>
              <a:rPr lang="en-IN" dirty="0"/>
              <a:t> </a:t>
            </a:r>
            <a:r>
              <a:rPr lang="en-IN" dirty="0" err="1"/>
              <a:t>Sandesh</a:t>
            </a:r>
            <a:r>
              <a:rPr lang="en-IN" dirty="0"/>
              <a:t> B P</a:t>
            </a:r>
          </a:p>
          <a:p>
            <a:pPr algn="l">
              <a:defRPr sz="2100">
                <a:solidFill>
                  <a:srgbClr val="2D2D2D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65521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B"/>
                </a:solidFill>
              </a:defRPr>
            </a:pPr>
            <a:r>
              <a:rPr dirty="0"/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D2D2D"/>
                </a:solidFill>
              </a:defRPr>
            </a:pPr>
            <a:r>
              <a:rPr b="1" dirty="0"/>
              <a:t>Objective:</a:t>
            </a:r>
            <a:endParaRPr lang="en-GB" b="1" dirty="0"/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D2D2D"/>
                </a:solidFill>
              </a:defRPr>
            </a:pPr>
            <a:r>
              <a:rPr b="1" dirty="0"/>
              <a:t> </a:t>
            </a:r>
            <a:r>
              <a:rPr dirty="0"/>
              <a:t>Develop an AI-based agricultural decision-support framework that combines heterogeneous agricultural information.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D2D2D"/>
                </a:solidFill>
              </a:defRPr>
            </a:pPr>
            <a:r>
              <a:rPr dirty="0"/>
              <a:t>Satellite data provides spatial information about vegetation and crop condition.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D2D2D"/>
                </a:solidFill>
              </a:defRPr>
            </a:pPr>
            <a:r>
              <a:rPr dirty="0"/>
              <a:t>Weather data provides environmental context such as rainfall, temperature and humidity.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D2D2D"/>
                </a:solidFill>
              </a:defRPr>
            </a:pPr>
            <a:r>
              <a:rPr dirty="0"/>
              <a:t>Specialized AI agents analyze different information sources independently.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D2D2D"/>
                </a:solidFill>
              </a:defRPr>
            </a:pPr>
            <a:r>
              <a:rPr dirty="0"/>
              <a:t>A Supervisor / Orchestrator Agent coordinates the agents according to the user’s agricultural query.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D2D2D"/>
                </a:solidFill>
              </a:defRPr>
            </a:pPr>
            <a:r>
              <a:rPr dirty="0"/>
              <a:t>The final system generates adaptive and explainable recommendations rather than only a numerical prediction.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497835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B"/>
                </a:solidFill>
              </a:defRPr>
            </a:pPr>
            <a:r>
              <a:rPr dirty="0"/>
              <a:t>Problem Statement &amp;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3383280" cy="914400"/>
          </a:xfrm>
          <a:prstGeom prst="roundRect">
            <a:avLst/>
          </a:prstGeom>
          <a:solidFill>
            <a:srgbClr val="F1F6F2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2D2D2D"/>
                </a:solidFill>
              </a:defRPr>
            </a:pPr>
            <a:r>
              <a:t>Multiple agricultural factors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34440"/>
            <a:ext cx="3383280" cy="914400"/>
          </a:xfrm>
          <a:prstGeom prst="roundRect">
            <a:avLst/>
          </a:prstGeom>
          <a:solidFill>
            <a:srgbClr val="F1F6F2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2D2D2D"/>
                </a:solidFill>
              </a:defRPr>
            </a:pPr>
            <a:r>
              <a:t>Different data modalities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234440"/>
            <a:ext cx="3383280" cy="914400"/>
          </a:xfrm>
          <a:prstGeom prst="roundRect">
            <a:avLst/>
          </a:prstGeom>
          <a:solidFill>
            <a:srgbClr val="F1F6F2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2D2D2D"/>
                </a:solidFill>
              </a:defRPr>
            </a:pPr>
            <a:r>
              <a:t>Changing field conditions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23360" y="1691640"/>
            <a:ext cx="320040" cy="0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0" y="1691640"/>
            <a:ext cx="320040" cy="0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2560320"/>
            <a:ext cx="1051560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</a:defRPr>
            </a:pPr>
            <a:r>
              <a:rPr dirty="0"/>
              <a:t>Many existing systems are designed for a specific task such as yield prediction, disease detection or crop classification.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</a:defRPr>
            </a:pPr>
            <a:r>
              <a:rPr dirty="0"/>
              <a:t>Multimodal research already combines satellite and weather information, but many approaches remain prediction-oriented and follow relatively fixed pipelines.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D2D2D"/>
                </a:solidFill>
              </a:defRPr>
            </a:pPr>
            <a:r>
              <a:rPr dirty="0"/>
              <a:t>Farm-level decision-making requires combining evidence from several sources and adapting the analysis to the actual question.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D2D2D"/>
                </a:solidFill>
              </a:defRPr>
            </a:pPr>
            <a:r>
              <a:rPr b="1" dirty="0" err="1"/>
              <a:t>AgriAgent</a:t>
            </a:r>
            <a:r>
              <a:rPr b="1" dirty="0"/>
              <a:t> aims to bridge this gap using agent-based coordination, multimodal reasoning and decision support.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450758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B"/>
                </a:solidFill>
              </a:defRPr>
            </a:pPr>
            <a:r>
              <a:rPr dirty="0"/>
              <a:t>Proposed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051560"/>
            <a:ext cx="3017520" cy="594360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Farmer / User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874519"/>
            <a:ext cx="3749039" cy="685800"/>
          </a:xfrm>
          <a:prstGeom prst="roundRect">
            <a:avLst/>
          </a:prstGeom>
          <a:solidFill>
            <a:srgbClr val="F1F6F2"/>
          </a:solidFill>
          <a:ln w="1651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Supervisor / Orchestrator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971800"/>
            <a:ext cx="2743200" cy="685800"/>
          </a:xfrm>
          <a:prstGeom prst="roundRect">
            <a:avLst/>
          </a:prstGeom>
          <a:solidFill>
            <a:srgbClr val="F1F6F2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Satellite Agent</a:t>
            </a:r>
            <a:br/>
            <a:r>
              <a:t>NDVI / Crop 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971800"/>
            <a:ext cx="2743200" cy="685800"/>
          </a:xfrm>
          <a:prstGeom prst="roundRect">
            <a:avLst/>
          </a:prstGeom>
          <a:solidFill>
            <a:srgbClr val="F1F6F2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Weather Agent</a:t>
            </a:r>
            <a:br/>
            <a:r>
              <a:t>Rainfall / Temp / Humidity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971800"/>
            <a:ext cx="2743200" cy="685800"/>
          </a:xfrm>
          <a:prstGeom prst="roundRect">
            <a:avLst/>
          </a:prstGeom>
          <a:solidFill>
            <a:srgbClr val="F1F6F2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Knowledge Agent / RAG</a:t>
            </a:r>
            <a:br/>
            <a:r>
              <a:t>Agricultural Knowledge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645920"/>
            <a:ext cx="0" cy="210311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965960" y="2560320"/>
            <a:ext cx="2606040" cy="393192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560320"/>
            <a:ext cx="0" cy="393192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89520" y="2560320"/>
            <a:ext cx="2606040" cy="393192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0" y="4160520"/>
            <a:ext cx="3977639" cy="685800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2D2D"/>
                </a:solidFill>
              </a:defRPr>
            </a:pPr>
            <a:r>
              <a:t>Multimodal Evidence Fusion &amp; Reasoning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3675887"/>
            <a:ext cx="2880360" cy="466345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3675887"/>
            <a:ext cx="0" cy="466345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360920" y="3675887"/>
            <a:ext cx="2834640" cy="466345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5074920"/>
            <a:ext cx="3611880" cy="640080"/>
          </a:xfrm>
          <a:prstGeom prst="roundRect">
            <a:avLst/>
          </a:prstGeom>
          <a:solidFill>
            <a:srgbClr val="F1F6F2"/>
          </a:solidFill>
          <a:ln w="1651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Decision Support 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4864608"/>
            <a:ext cx="0" cy="192024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0" y="5852160"/>
            <a:ext cx="4846320" cy="56692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D2D2D"/>
                </a:solidFill>
              </a:defRPr>
            </a:pPr>
            <a:r>
              <a:t>Adaptive + Explainable Recommendation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5733288"/>
            <a:ext cx="0" cy="100584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86334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B"/>
                </a:solidFill>
              </a:defRPr>
            </a:pPr>
            <a:r>
              <a:rPr dirty="0"/>
              <a:t>Role of Each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2423160" cy="65836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Satellite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143000"/>
            <a:ext cx="804672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Processes satellite imagery; derives indicators such as NDVI; identifies vegetation/crop-condition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23160" cy="65836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Weather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130552"/>
            <a:ext cx="804672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Analyzes rainfall, temperature, humidity and forecast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18104"/>
            <a:ext cx="2423160" cy="65836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Knowledge Agent /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118104"/>
            <a:ext cx="804672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Retrieves relevant agricultural practices, rules and domain knowledge.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05656"/>
            <a:ext cx="2423160" cy="65836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Supervisor / Orchestrator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4105656"/>
            <a:ext cx="804672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Understands the query, selects relevant agents and coordinates their outputs.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093208"/>
            <a:ext cx="2423160" cy="65836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Decision Support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5093208"/>
            <a:ext cx="804672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Combines evidence and produces a context-aware, explainable recommendation.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618836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B"/>
                </a:solidFill>
              </a:defRPr>
            </a:pPr>
            <a:r>
              <a:rPr dirty="0"/>
              <a:t>How </a:t>
            </a:r>
            <a:r>
              <a:rPr dirty="0" err="1"/>
              <a:t>AgriAgent</a:t>
            </a:r>
            <a:r>
              <a:rPr dirty="0"/>
              <a:t> Differs from Existing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1325880" cy="502920"/>
          </a:xfrm>
          <a:prstGeom prst="roundRect">
            <a:avLst/>
          </a:prstGeom>
          <a:solidFill>
            <a:srgbClr val="1C304B"/>
          </a:solidFill>
          <a:ln w="1651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Aspect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65960" y="1051560"/>
            <a:ext cx="4343400" cy="502920"/>
          </a:xfrm>
          <a:prstGeom prst="roundRect">
            <a:avLst/>
          </a:prstGeom>
          <a:solidFill>
            <a:srgbClr val="1C304B"/>
          </a:solidFill>
          <a:ln w="1651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Typical Existing Multimodal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051560"/>
            <a:ext cx="5257800" cy="502920"/>
          </a:xfrm>
          <a:prstGeom prst="roundRect">
            <a:avLst/>
          </a:prstGeom>
          <a:solidFill>
            <a:srgbClr val="1C304B"/>
          </a:solidFill>
          <a:ln w="1651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AgriAgent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132588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D2D2D"/>
                </a:solidFill>
              </a:defRPr>
            </a:pPr>
            <a:r>
              <a:t>Main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1572768"/>
            <a:ext cx="43434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Prediction /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72768"/>
            <a:ext cx="52578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Adaptive decision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85416"/>
            <a:ext cx="132588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D2D2D"/>
                </a:solidFill>
              </a:defRPr>
            </a:pPr>
            <a:r>
              <a:t>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2185416"/>
            <a:ext cx="43434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Often satellite + weather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185416"/>
            <a:ext cx="52578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Satellite + weather + agricultural 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98064"/>
            <a:ext cx="132588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D2D2D"/>
                </a:solidFill>
              </a:defRPr>
            </a:pPr>
            <a:r>
              <a:t>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2798064"/>
            <a:ext cx="43434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Fixed model/pipeline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798064"/>
            <a:ext cx="52578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Multiple specialized agents + orchestrator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10712"/>
            <a:ext cx="132588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D2D2D"/>
                </a:solidFill>
              </a:defRPr>
            </a:pPr>
            <a:r>
              <a:t>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410712"/>
            <a:ext cx="43434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Direct multimodal fusion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410712"/>
            <a:ext cx="52578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Agent-specific analysis + evidence fusion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23360"/>
            <a:ext cx="132588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D2D2D"/>
                </a:solidFill>
              </a:defRPr>
            </a:pPr>
            <a:r>
              <a:t>Adaptability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4023360"/>
            <a:ext cx="43434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Predefined task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52578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Query-driven agent selection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636008"/>
            <a:ext cx="132588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D2D2D"/>
                </a:solidFill>
              </a:defRPr>
            </a:pPr>
            <a:r>
              <a:t>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4636008"/>
            <a:ext cx="43434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Prediction /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636008"/>
            <a:ext cx="52578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Recommendation + explanation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48656"/>
            <a:ext cx="132588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D2D2D"/>
                </a:solidFill>
              </a:defRPr>
            </a:pPr>
            <a:r>
              <a:t>Reasoning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5248656"/>
            <a:ext cx="43434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Mostly model-centric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5248656"/>
            <a:ext cx="5257800" cy="5760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D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2D2D2D"/>
                </a:solidFill>
              </a:defRPr>
            </a:pPr>
            <a:r>
              <a:t>Agent + multimodal reasoning-centric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509549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B"/>
                </a:solidFill>
              </a:defRPr>
            </a:pPr>
            <a:r>
              <a:rPr dirty="0"/>
              <a:t>Research Gap &amp; Proposed Novelty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120640" cy="731520"/>
          </a:xfrm>
          <a:prstGeom prst="roundRect">
            <a:avLst/>
          </a:prstGeom>
          <a:solidFill>
            <a:srgbClr val="F1F6F2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D2D2D"/>
                </a:solidFill>
              </a:defRPr>
            </a:pPr>
            <a:r>
              <a:t>Existing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4754880" cy="231858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D2D2D"/>
                </a:solidFill>
              </a:defRPr>
            </a:pPr>
            <a:r>
              <a:rPr dirty="0"/>
              <a:t>Multimodal satellite + weather prediction already exists.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D2D2D"/>
                </a:solidFill>
              </a:defRPr>
            </a:pPr>
            <a:r>
              <a:rPr dirty="0"/>
              <a:t>Many systems use a fixed pipeline for a predefined prediction task.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D2D2D"/>
                </a:solidFill>
              </a:defRPr>
            </a:pPr>
            <a:r>
              <a:rPr dirty="0" err="1"/>
              <a:t>Agentic</a:t>
            </a:r>
            <a:r>
              <a:rPr dirty="0"/>
              <a:t> agricultural systems exist, but the integration of agent coordination with satellite/weather intelligence for adaptive decision support remains comparatively underexplored.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20640" cy="731520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D2D2D"/>
                </a:solidFill>
              </a:defRPr>
            </a:pPr>
            <a:r>
              <a:t>AgriAgent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2057400"/>
            <a:ext cx="4754880" cy="19543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D2D2D"/>
                </a:solidFill>
              </a:defRPr>
            </a:pPr>
            <a:r>
              <a:rPr dirty="0"/>
              <a:t>Specialized agents for different agricultural modalities.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D2D2D"/>
                </a:solidFill>
              </a:defRPr>
            </a:pPr>
            <a:r>
              <a:rPr dirty="0"/>
              <a:t>Dynamic orchestration based on the user’s query.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D2D2D"/>
                </a:solidFill>
              </a:defRPr>
            </a:pPr>
            <a:r>
              <a:rPr dirty="0"/>
              <a:t>Multimodal evidence fusion and reasoning.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D2D2D"/>
                </a:solidFill>
              </a:defRPr>
            </a:pPr>
            <a:r>
              <a:rPr dirty="0"/>
              <a:t>Adaptive, explainable agricultural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5257800"/>
            <a:ext cx="8092440" cy="685800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D2D2D"/>
                </a:solidFill>
              </a:defRPr>
            </a:pPr>
            <a:r>
              <a:t>Novelty = Multimodal Intelligence + Agentic Coordination + Adaptive Decision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789055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B"/>
                </a:solidFill>
              </a:defRPr>
            </a:pPr>
            <a:r>
              <a:rPr dirty="0"/>
              <a:t>Example Use Case – Detecting Possible Water Stress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377440" cy="65836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User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051560"/>
            <a:ext cx="7955279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D2D2D"/>
                </a:solidFill>
              </a:defRPr>
            </a:pPr>
            <a:r>
              <a:t>“Is my crop under water stress?”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1709928"/>
            <a:ext cx="0" cy="237744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74519"/>
            <a:ext cx="2377440" cy="65836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Satellite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74519"/>
            <a:ext cx="7955279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D2D2D"/>
                </a:solidFill>
              </a:defRPr>
            </a:pPr>
            <a:r>
              <a:t>Low NDVI / reduced vegetation condition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532887"/>
            <a:ext cx="0" cy="237745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697479"/>
            <a:ext cx="2377440" cy="65836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Weather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697479"/>
            <a:ext cx="7955279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D2D2D"/>
                </a:solidFill>
              </a:defRPr>
            </a:pPr>
            <a:r>
              <a:t>Low rainfall + high temperature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355848"/>
            <a:ext cx="0" cy="237743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3520439"/>
            <a:ext cx="2377440" cy="65836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Knowledge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520439"/>
            <a:ext cx="7955279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D2D2D"/>
                </a:solidFill>
              </a:defRPr>
            </a:pPr>
            <a:r>
              <a:t>Retrieves relevant water-stress / crop-management knowledge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178807"/>
            <a:ext cx="0" cy="237745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4343400"/>
            <a:ext cx="2377440" cy="65836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Reasoning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343400"/>
            <a:ext cx="7955279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D2D2D"/>
                </a:solidFill>
              </a:defRPr>
            </a:pPr>
            <a:r>
              <a:t>Combines the evidence and assesses the likely condition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01768"/>
            <a:ext cx="0" cy="237744"/>
          </a:xfrm>
          <a:prstGeom prst="line">
            <a:avLst/>
          </a:prstGeom>
          <a:ln w="25400">
            <a:solidFill>
              <a:srgbClr val="1C3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5166360"/>
            <a:ext cx="2377440" cy="658368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Decision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5166360"/>
            <a:ext cx="7955279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E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2D2D2D"/>
                </a:solidFill>
              </a:defRPr>
            </a:pPr>
            <a:r>
              <a:t>Provides an irrigation / water-management recommendation with 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610532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B"/>
                </a:solidFill>
              </a:defRPr>
            </a:pPr>
            <a:r>
              <a:rPr dirty="0"/>
              <a:t> Proposed Implementation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D2D2D"/>
                </a:solidFill>
              </a:defRPr>
            </a:pPr>
            <a:r>
              <a:rPr b="1" dirty="0"/>
              <a:t>Data: </a:t>
            </a:r>
            <a:r>
              <a:rPr dirty="0"/>
              <a:t>Sentinel-2 / Landsat satellite imagery and a suitable weather source such as NASA POWER or an open weather API.</a:t>
            </a:r>
          </a:p>
          <a:p>
            <a:pPr>
              <a:spcAft>
                <a:spcPts val="1000"/>
              </a:spcAft>
              <a:defRPr sz="1700" b="0">
                <a:solidFill>
                  <a:srgbClr val="2D2D2D"/>
                </a:solidFill>
              </a:defRPr>
            </a:pPr>
            <a:r>
              <a:rPr b="1" dirty="0"/>
              <a:t>Satellite processing: </a:t>
            </a:r>
            <a:r>
              <a:rPr lang="en-GB" dirty="0"/>
              <a:t>P</a:t>
            </a:r>
            <a:r>
              <a:rPr dirty="0"/>
              <a:t>reprocessing and vegetation indicators such as NDVI.</a:t>
            </a:r>
          </a:p>
          <a:p>
            <a:pPr>
              <a:spcAft>
                <a:spcPts val="1000"/>
              </a:spcAft>
              <a:defRPr sz="1700" b="0">
                <a:solidFill>
                  <a:srgbClr val="2D2D2D"/>
                </a:solidFill>
              </a:defRPr>
            </a:pPr>
            <a:r>
              <a:rPr b="1" dirty="0"/>
              <a:t>Agent layer:</a:t>
            </a:r>
            <a:r>
              <a:rPr dirty="0"/>
              <a:t> </a:t>
            </a:r>
            <a:r>
              <a:rPr lang="en-GB" dirty="0"/>
              <a:t>I</a:t>
            </a:r>
            <a:r>
              <a:rPr dirty="0" err="1"/>
              <a:t>mplement</a:t>
            </a:r>
            <a:r>
              <a:rPr dirty="0"/>
              <a:t> specialized agents and a Supervisor/Orchestrator.</a:t>
            </a:r>
          </a:p>
          <a:p>
            <a:pPr>
              <a:spcAft>
                <a:spcPts val="1000"/>
              </a:spcAft>
              <a:defRPr sz="1700" b="0">
                <a:solidFill>
                  <a:srgbClr val="2D2D2D"/>
                </a:solidFill>
              </a:defRPr>
            </a:pPr>
            <a:r>
              <a:rPr b="1" dirty="0"/>
              <a:t>Knowledge</a:t>
            </a:r>
            <a:r>
              <a:rPr dirty="0"/>
              <a:t> </a:t>
            </a:r>
            <a:r>
              <a:rPr b="1" dirty="0"/>
              <a:t>layer</a:t>
            </a:r>
            <a:r>
              <a:rPr lang="en-GB" b="1" dirty="0"/>
              <a:t>: </a:t>
            </a:r>
            <a:r>
              <a:rPr lang="en-GB" dirty="0"/>
              <a:t>R</a:t>
            </a:r>
            <a:r>
              <a:rPr dirty="0" err="1"/>
              <a:t>etrieve</a:t>
            </a:r>
            <a:r>
              <a:rPr dirty="0"/>
              <a:t> trusted agricultural information for grounded recommendations.</a:t>
            </a:r>
          </a:p>
          <a:p>
            <a:pPr>
              <a:spcAft>
                <a:spcPts val="1000"/>
              </a:spcAft>
              <a:defRPr sz="1700" b="0">
                <a:solidFill>
                  <a:srgbClr val="2D2D2D"/>
                </a:solidFill>
              </a:defRPr>
            </a:pPr>
            <a:r>
              <a:rPr b="1" dirty="0"/>
              <a:t>Reasoning</a:t>
            </a:r>
            <a:r>
              <a:rPr dirty="0"/>
              <a:t> </a:t>
            </a:r>
            <a:r>
              <a:rPr b="1" dirty="0"/>
              <a:t>layer</a:t>
            </a:r>
            <a:r>
              <a:rPr lang="en-GB" b="1" dirty="0"/>
              <a:t>: </a:t>
            </a:r>
            <a:r>
              <a:rPr lang="en-GB" dirty="0"/>
              <a:t>C</a:t>
            </a:r>
            <a:r>
              <a:rPr dirty="0" err="1"/>
              <a:t>ombine</a:t>
            </a:r>
            <a:r>
              <a:rPr dirty="0"/>
              <a:t> satellite, weather and knowledge evidence.</a:t>
            </a:r>
          </a:p>
          <a:p>
            <a:pPr>
              <a:spcAft>
                <a:spcPts val="1000"/>
              </a:spcAft>
              <a:defRPr sz="1700" b="0">
                <a:solidFill>
                  <a:srgbClr val="2D2D2D"/>
                </a:solidFill>
              </a:defRPr>
            </a:pPr>
            <a:r>
              <a:rPr b="1" dirty="0"/>
              <a:t>Evaluation</a:t>
            </a:r>
            <a:r>
              <a:rPr lang="en-GB" b="1" dirty="0"/>
              <a:t>: </a:t>
            </a:r>
            <a:r>
              <a:rPr lang="en-GB" dirty="0"/>
              <a:t>C</a:t>
            </a:r>
            <a:r>
              <a:rPr dirty="0" err="1"/>
              <a:t>ompare</a:t>
            </a:r>
            <a:r>
              <a:rPr dirty="0"/>
              <a:t> satellite-only, weather-only, conventional satellite + weather model, and the proposed </a:t>
            </a:r>
            <a:r>
              <a:rPr dirty="0" err="1"/>
              <a:t>AgriAgent</a:t>
            </a:r>
            <a:r>
              <a:rPr dirty="0"/>
              <a:t> approach.</a:t>
            </a:r>
          </a:p>
          <a:p>
            <a:pPr>
              <a:spcAft>
                <a:spcPts val="1000"/>
              </a:spcAft>
              <a:defRPr sz="1700" b="0">
                <a:solidFill>
                  <a:srgbClr val="2D2D2D"/>
                </a:solidFill>
              </a:defRPr>
            </a:pPr>
            <a:r>
              <a:rPr b="1" dirty="0"/>
              <a:t>Metrics</a:t>
            </a:r>
            <a:r>
              <a:rPr lang="en-GB" b="1" dirty="0"/>
              <a:t>:</a:t>
            </a:r>
            <a:r>
              <a:rPr dirty="0"/>
              <a:t> </a:t>
            </a:r>
            <a:r>
              <a:rPr lang="en-GB" dirty="0"/>
              <a:t>U</a:t>
            </a:r>
            <a:r>
              <a:rPr dirty="0"/>
              <a:t>se task-appropriate prediction metrics (e.g., RMSE/MAE or Accuracy/F1) plus recommendation relevance, consistency and </a:t>
            </a:r>
            <a:r>
              <a:rPr dirty="0" err="1"/>
              <a:t>explainability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304B"/>
                </a:solidFill>
              </a:defRPr>
            </a:pPr>
            <a:r>
              <a:t>Key Message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2148840"/>
            <a:ext cx="10058400" cy="1143000"/>
          </a:xfrm>
          <a:prstGeom prst="roundRect">
            <a:avLst/>
          </a:prstGeom>
          <a:solidFill>
            <a:srgbClr val="DCEBDC"/>
          </a:solidFill>
          <a:ln w="16510">
            <a:solidFill>
              <a:srgbClr val="41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2D2D2D"/>
                </a:solidFill>
              </a:defRPr>
            </a:pPr>
            <a:r>
              <a:t>Existing work shows that multimodal agricultural data is valuable.</a:t>
            </a:r>
            <a:br/>
            <a:r>
              <a:t>AgriAgent adds an agentic coordination and adaptive decision-support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886200"/>
            <a:ext cx="850392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C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D2D2D"/>
                </a:solidFill>
              </a:defRPr>
            </a:pPr>
            <a:r>
              <a:t>Satellite + Weather → Specialized Agents → Orchestrator → Reasoning → Adaptive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7D431-A431-A139-2168-F865CECE8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C285E-ACC5-C780-64A4-A850F0FCBDBE}"/>
              </a:ext>
            </a:extLst>
          </p:cNvPr>
          <p:cNvSpPr txBox="1"/>
          <p:nvPr/>
        </p:nvSpPr>
        <p:spPr>
          <a:xfrm>
            <a:off x="1350952" y="2546555"/>
            <a:ext cx="1436355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304B"/>
                </a:solidFill>
              </a:defRPr>
            </a:pPr>
            <a:r>
              <a:rPr lang="en-US" dirty="0"/>
              <a:t>Q &amp; A?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3D9F6C-6AB2-FBA7-1454-BEF754C9F124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C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3BA01-AC1C-100A-6381-548373A5353F}"/>
              </a:ext>
            </a:extLst>
          </p:cNvPr>
          <p:cNvSpPr txBox="1"/>
          <p:nvPr/>
        </p:nvSpPr>
        <p:spPr>
          <a:xfrm>
            <a:off x="1078992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68949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728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PALLAVI B N</cp:lastModifiedBy>
  <cp:revision>8</cp:revision>
  <dcterms:created xsi:type="dcterms:W3CDTF">2013-01-27T09:14:16Z</dcterms:created>
  <dcterms:modified xsi:type="dcterms:W3CDTF">2026-10-10T08:43:47Z</dcterms:modified>
  <cp:category/>
</cp:coreProperties>
</file>