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notesMasterIdLst>
    <p:notesMasterId r:id="rId15"/>
  </p:notesMasterIdLst>
  <p:sldIdLst>
    <p:sldId id="256" r:id="rId2"/>
    <p:sldId id="269" r:id="rId3"/>
    <p:sldId id="265" r:id="rId4"/>
    <p:sldId id="261" r:id="rId5"/>
    <p:sldId id="266" r:id="rId6"/>
    <p:sldId id="258" r:id="rId7"/>
    <p:sldId id="259" r:id="rId8"/>
    <p:sldId id="262" r:id="rId9"/>
    <p:sldId id="263" r:id="rId10"/>
    <p:sldId id="264" r:id="rId11"/>
    <p:sldId id="267" r:id="rId12"/>
    <p:sldId id="260"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85A05-4B79-4633-A341-9D2CB80BC08C}" type="datetimeFigureOut">
              <a:rPr lang="en-IN" smtClean="0"/>
              <a:t>12-09-2026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1885E-9A10-426D-A358-470E9A5974E6}" type="slidenum">
              <a:rPr lang="en-IN" smtClean="0"/>
              <a:t>‹#›</a:t>
            </a:fld>
            <a:endParaRPr lang="en-IN"/>
          </a:p>
        </p:txBody>
      </p:sp>
    </p:spTree>
    <p:extLst>
      <p:ext uri="{BB962C8B-B14F-4D97-AF65-F5344CB8AC3E}">
        <p14:creationId xmlns:p14="http://schemas.microsoft.com/office/powerpoint/2010/main" val="35050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51885E-9A10-426D-A358-470E9A5974E6}" type="slidenum">
              <a:rPr lang="en-IN" smtClean="0"/>
              <a:t>10</a:t>
            </a:fld>
            <a:endParaRPr lang="en-IN"/>
          </a:p>
        </p:txBody>
      </p:sp>
    </p:spTree>
    <p:extLst>
      <p:ext uri="{BB962C8B-B14F-4D97-AF65-F5344CB8AC3E}">
        <p14:creationId xmlns:p14="http://schemas.microsoft.com/office/powerpoint/2010/main" val="8611388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6323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265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32116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42009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65591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744038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478020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1124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02662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128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29727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7352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4112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834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089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047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952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7318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endParaRPr lang="en-IN"/>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2838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67402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endParaRPr lang="en-IN"/>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503596"/>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0534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endParaRPr lang="en-IN"/>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26E4D3A6-C8A5-4B7D-9FB1-D060D9349B9A}" type="slidenum">
              <a:rPr lang="en-IN" smtClean="0"/>
              <a:t>‹#›</a:t>
            </a:fld>
            <a:endParaRPr lang="en-IN"/>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6304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26E4D3A6-C8A5-4B7D-9FB1-D060D9349B9A}" type="slidenum">
              <a:rPr lang="en-IN" smtClean="0"/>
              <a:t>‹#›</a:t>
            </a:fld>
            <a:endParaRPr lang="en-IN"/>
          </a:p>
        </p:txBody>
      </p:sp>
    </p:spTree>
    <p:extLst>
      <p:ext uri="{BB962C8B-B14F-4D97-AF65-F5344CB8AC3E}">
        <p14:creationId xmlns:p14="http://schemas.microsoft.com/office/powerpoint/2010/main" val="110290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8B80478F-2992-410C-BC9E-B7480977A0F3}" type="datetimeFigureOut">
              <a:rPr lang="en-IN" smtClean="0"/>
              <a:t>12-09-2026</a:t>
            </a:fld>
            <a:endParaRPr lang="en-IN"/>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26E4D3A6-C8A5-4B7D-9FB1-D060D9349B9A}" type="slidenum">
              <a:rPr lang="en-IN" smtClean="0"/>
              <a:t>‹#›</a:t>
            </a:fld>
            <a:endParaRPr lang="en-IN"/>
          </a:p>
        </p:txBody>
      </p:sp>
    </p:spTree>
    <p:extLst>
      <p:ext uri="{BB962C8B-B14F-4D97-AF65-F5344CB8AC3E}">
        <p14:creationId xmlns:p14="http://schemas.microsoft.com/office/powerpoint/2010/main" val="2842439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9470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26E4D3A6-C8A5-4B7D-9FB1-D060D9349B9A}" type="slidenum">
              <a:rPr lang="en-IN" smtClean="0"/>
              <a:t>‹#›</a:t>
            </a:fld>
            <a:endParaRPr lang="en-IN"/>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649795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endParaRPr lang="en-IN"/>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8B80478F-2992-410C-BC9E-B7480977A0F3}" type="datetimeFigureOut">
              <a:rPr lang="en-IN" smtClean="0"/>
              <a:t>12-09-2026</a:t>
            </a:fld>
            <a:endParaRPr lang="en-IN"/>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26E4D3A6-C8A5-4B7D-9FB1-D060D9349B9A}" type="slidenum">
              <a:rPr lang="en-IN" smtClean="0"/>
              <a:t>‹#›</a:t>
            </a:fld>
            <a:endParaRPr lang="en-IN"/>
          </a:p>
        </p:txBody>
      </p:sp>
    </p:spTree>
    <p:extLst>
      <p:ext uri="{BB962C8B-B14F-4D97-AF65-F5344CB8AC3E}">
        <p14:creationId xmlns:p14="http://schemas.microsoft.com/office/powerpoint/2010/main" val="1834896810"/>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 id="2147483812" r:id="rId18"/>
    <p:sldLayoutId id="2147483813" r:id="rId19"/>
    <p:sldLayoutId id="2147483814" r:id="rId20"/>
    <p:sldLayoutId id="2147483815" r:id="rId21"/>
    <p:sldLayoutId id="2147483816" r:id="rId22"/>
    <p:sldLayoutId id="2147483817" r:id="rId23"/>
    <p:sldLayoutId id="2147483818" r:id="rId24"/>
    <p:sldLayoutId id="2147483819" r:id="rId25"/>
    <p:sldLayoutId id="2147483820" r:id="rId26"/>
    <p:sldLayoutId id="2147483821" r:id="rId27"/>
  </p:sldLayoutIdLst>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hyperlink" Target="https://www.bing.com/search?q=%22https%3A%2F%2Fglam1.gsfc.nasa.gov%2F%22" TargetMode="External"/><Relationship Id="rId2" Type="http://schemas.openxmlformats.org/officeDocument/2006/relationships/hyperlink" Target="https://data.apps.fao.org/" TargetMode="Externa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competitions/canopy-height/data?utm_source=copilot.com" TargetMode="External"/><Relationship Id="rId2" Type="http://schemas.openxmlformats.org/officeDocument/2006/relationships/hyperlink" Target="https://www.kaggle.com/competitions/agriyield-2025/overview?utm_source=copilot.com" TargetMode="External"/><Relationship Id="rId1" Type="http://schemas.openxmlformats.org/officeDocument/2006/relationships/slideLayout" Target="../slideLayouts/slideLayout24.xml"/><Relationship Id="rId4" Type="http://schemas.openxmlformats.org/officeDocument/2006/relationships/hyperlink" Target="https://www.kaggle.com/datasets/alishabasa/agriburn?utm_source=copilot.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4BDB-1721-DB06-F6A2-61E91761FBC6}"/>
              </a:ext>
            </a:extLst>
          </p:cNvPr>
          <p:cNvSpPr>
            <a:spLocks noGrp="1"/>
          </p:cNvSpPr>
          <p:nvPr>
            <p:ph type="ctrTitle"/>
          </p:nvPr>
        </p:nvSpPr>
        <p:spPr>
          <a:xfrm>
            <a:off x="481782" y="766916"/>
            <a:ext cx="11336592" cy="3854245"/>
          </a:xfrm>
        </p:spPr>
        <p:txBody>
          <a:bodyPr>
            <a:normAutofit fontScale="90000"/>
          </a:bodyPr>
          <a:lstStyle/>
          <a:p>
            <a:r>
              <a:rPr lang="en-US" sz="4400" b="1" dirty="0" err="1"/>
              <a:t>AgriAgent</a:t>
            </a:r>
            <a:r>
              <a:rPr lang="en-US" sz="4400" b="1" dirty="0"/>
              <a:t>: An Agentic Multimodal Framework for Adaptive Agricultural Decision Support Using Satellite and Weather Intelligence</a:t>
            </a:r>
            <a:br>
              <a:rPr lang="en-IN" b="1" dirty="0"/>
            </a:br>
            <a:r>
              <a:rPr lang="en-IN" sz="3600" dirty="0"/>
              <a:t>Capstone Project Guidance Call - 2</a:t>
            </a:r>
            <a:br>
              <a:rPr lang="en-IN" sz="3600" dirty="0"/>
            </a:br>
            <a:endParaRPr lang="en-IN" sz="3600" dirty="0"/>
          </a:p>
        </p:txBody>
      </p:sp>
      <p:sp>
        <p:nvSpPr>
          <p:cNvPr id="3" name="Subtitle 2">
            <a:extLst>
              <a:ext uri="{FF2B5EF4-FFF2-40B4-BE49-F238E27FC236}">
                <a16:creationId xmlns:a16="http://schemas.microsoft.com/office/drawing/2014/main" id="{E96AEB2F-6787-B0BA-530B-F3664C551BA3}"/>
              </a:ext>
            </a:extLst>
          </p:cNvPr>
          <p:cNvSpPr>
            <a:spLocks noGrp="1"/>
          </p:cNvSpPr>
          <p:nvPr>
            <p:ph type="subTitle" idx="1"/>
          </p:nvPr>
        </p:nvSpPr>
        <p:spPr>
          <a:xfrm>
            <a:off x="2451378" y="4984955"/>
            <a:ext cx="7289245" cy="1544279"/>
          </a:xfrm>
        </p:spPr>
        <p:txBody>
          <a:bodyPr>
            <a:normAutofit fontScale="77500" lnSpcReduction="20000"/>
          </a:bodyPr>
          <a:lstStyle/>
          <a:p>
            <a:br>
              <a:rPr lang="en-IN" b="1" dirty="0"/>
            </a:br>
            <a:r>
              <a:rPr lang="en-IN" b="1" dirty="0"/>
              <a:t>Mentors &amp; Guides</a:t>
            </a:r>
          </a:p>
          <a:p>
            <a:r>
              <a:rPr lang="en-IN" dirty="0"/>
              <a:t>Dr. D. Narayana &amp; Anwesh Kumar Reddy</a:t>
            </a:r>
          </a:p>
          <a:p>
            <a:r>
              <a:rPr lang="en-IN" b="1" dirty="0"/>
              <a:t>Project Team Members</a:t>
            </a:r>
          </a:p>
          <a:p>
            <a:r>
              <a:rPr lang="en-IN" dirty="0"/>
              <a:t>Pallavi B N, Monisha B R, Pavithra Patil, Megha Sandesh B P, Likhith Kumar T</a:t>
            </a:r>
          </a:p>
          <a:p>
            <a:endParaRPr lang="en-IN" dirty="0"/>
          </a:p>
        </p:txBody>
      </p:sp>
    </p:spTree>
    <p:extLst>
      <p:ext uri="{BB962C8B-B14F-4D97-AF65-F5344CB8AC3E}">
        <p14:creationId xmlns:p14="http://schemas.microsoft.com/office/powerpoint/2010/main" val="3105798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F220-0298-45A9-106B-9630487C0E61}"/>
              </a:ext>
            </a:extLst>
          </p:cNvPr>
          <p:cNvSpPr>
            <a:spLocks noGrp="1"/>
          </p:cNvSpPr>
          <p:nvPr>
            <p:ph type="title"/>
          </p:nvPr>
        </p:nvSpPr>
        <p:spPr/>
        <p:txBody>
          <a:bodyPr>
            <a:normAutofit/>
          </a:bodyPr>
          <a:lstStyle/>
          <a:p>
            <a:r>
              <a:rPr lang="en-US" sz="4800" dirty="0"/>
              <a:t>Table of Content</a:t>
            </a:r>
            <a:endParaRPr lang="en-IN" sz="4800" dirty="0"/>
          </a:p>
        </p:txBody>
      </p:sp>
      <p:sp>
        <p:nvSpPr>
          <p:cNvPr id="3" name="Content Placeholder 2">
            <a:extLst>
              <a:ext uri="{FF2B5EF4-FFF2-40B4-BE49-F238E27FC236}">
                <a16:creationId xmlns:a16="http://schemas.microsoft.com/office/drawing/2014/main" id="{40E5FE3D-8720-D69B-2E03-AA74584A58DB}"/>
              </a:ext>
            </a:extLst>
          </p:cNvPr>
          <p:cNvSpPr>
            <a:spLocks noGrp="1"/>
          </p:cNvSpPr>
          <p:nvPr>
            <p:ph idx="1"/>
          </p:nvPr>
        </p:nvSpPr>
        <p:spPr/>
        <p:txBody>
          <a:bodyPr>
            <a:normAutofit/>
          </a:bodyPr>
          <a:lstStyle/>
          <a:p>
            <a:r>
              <a:rPr lang="en-US" sz="3200" dirty="0"/>
              <a:t>Title and Abstract</a:t>
            </a:r>
          </a:p>
          <a:p>
            <a:r>
              <a:rPr lang="en-US" sz="3200" dirty="0"/>
              <a:t>Literature survey</a:t>
            </a:r>
          </a:p>
          <a:p>
            <a:r>
              <a:rPr lang="en-US" sz="3200" dirty="0"/>
              <a:t>Question and Answer Discussion</a:t>
            </a:r>
          </a:p>
          <a:p>
            <a:r>
              <a:rPr lang="en-US" sz="3200" dirty="0"/>
              <a:t>Conclusion</a:t>
            </a:r>
            <a:endParaRPr lang="en-IN" sz="3200" dirty="0"/>
          </a:p>
        </p:txBody>
      </p:sp>
    </p:spTree>
    <p:extLst>
      <p:ext uri="{BB962C8B-B14F-4D97-AF65-F5344CB8AC3E}">
        <p14:creationId xmlns:p14="http://schemas.microsoft.com/office/powerpoint/2010/main" val="202161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5B668-9207-C818-B1FE-AAF244E0A8B2}"/>
              </a:ext>
            </a:extLst>
          </p:cNvPr>
          <p:cNvSpPr>
            <a:spLocks noGrp="1"/>
          </p:cNvSpPr>
          <p:nvPr>
            <p:ph type="title"/>
          </p:nvPr>
        </p:nvSpPr>
        <p:spPr/>
        <p:txBody>
          <a:bodyPr>
            <a:normAutofit fontScale="90000"/>
          </a:bodyPr>
          <a:lstStyle/>
          <a:p>
            <a:pPr algn="just"/>
            <a:r>
              <a:rPr lang="en-US" dirty="0" err="1"/>
              <a:t>AgriAgent</a:t>
            </a:r>
            <a:r>
              <a:rPr lang="en-US" dirty="0"/>
              <a:t>: An Agentic Multimodal Framework for Adaptive Agricultural Decision Support Using Satellite and Weather Intelligence</a:t>
            </a:r>
            <a:endParaRPr lang="en-IN" dirty="0"/>
          </a:p>
        </p:txBody>
      </p:sp>
      <p:sp>
        <p:nvSpPr>
          <p:cNvPr id="3" name="Content Placeholder 2">
            <a:extLst>
              <a:ext uri="{FF2B5EF4-FFF2-40B4-BE49-F238E27FC236}">
                <a16:creationId xmlns:a16="http://schemas.microsoft.com/office/drawing/2014/main" id="{0A2B22BC-9451-EB75-1972-BB45DEDC614B}"/>
              </a:ext>
            </a:extLst>
          </p:cNvPr>
          <p:cNvSpPr>
            <a:spLocks noGrp="1"/>
          </p:cNvSpPr>
          <p:nvPr>
            <p:ph idx="1"/>
          </p:nvPr>
        </p:nvSpPr>
        <p:spPr/>
        <p:txBody>
          <a:bodyPr>
            <a:normAutofit/>
          </a:bodyPr>
          <a:lstStyle/>
          <a:p>
            <a:pPr marL="0" indent="0" algn="just">
              <a:buNone/>
            </a:pPr>
            <a:r>
              <a:rPr lang="en-US" dirty="0"/>
              <a:t>	This project proposes </a:t>
            </a:r>
            <a:r>
              <a:rPr lang="en-US" dirty="0" err="1"/>
              <a:t>AgriAgent</a:t>
            </a:r>
            <a:r>
              <a:rPr lang="en-US" dirty="0"/>
              <a:t>, an autonomous multimodal AI system for intelligent agricultural decision support by integrating satellite remote sensing, geospatial analysis, weather intelligence, and machine learning. Given a farm location, the system identifies agricultural land, analyzes temporal vegetation health using satellite-derived indices such as NDVI, and evaluates historical and forecasted weather conditions. An agentic orchestration layer dynamically selects and coordinates analytical tools, validates intermediate results, and performs recovery or requests additional farmer information when data is incomplete or unreliable. Machine learning models generate farm-condition predictions and rank suitable crops using climate, vegetation, and agricultural constraints. Recommendations are adaptively updated when users provide new information such as irrigation availability or sowing preferences. The system provides evidence-grounded explanations through an interactive map and conversational interface. Its effectiveness will be evaluated against a conventional fixed pipeline using prediction accuracy, recommendation quality, robustness, recovery rate, efficiency, and user-oriented metrics.</a:t>
            </a:r>
            <a:endParaRPr lang="en-IN" dirty="0"/>
          </a:p>
        </p:txBody>
      </p:sp>
    </p:spTree>
    <p:extLst>
      <p:ext uri="{BB962C8B-B14F-4D97-AF65-F5344CB8AC3E}">
        <p14:creationId xmlns:p14="http://schemas.microsoft.com/office/powerpoint/2010/main" val="753280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0CD037-D530-BEBF-318A-175ADA6E63C2}"/>
              </a:ext>
            </a:extLst>
          </p:cNvPr>
          <p:cNvSpPr txBox="1"/>
          <p:nvPr/>
        </p:nvSpPr>
        <p:spPr>
          <a:xfrm>
            <a:off x="501444" y="1411100"/>
            <a:ext cx="11080955" cy="2215991"/>
          </a:xfrm>
          <a:prstGeom prst="rect">
            <a:avLst/>
          </a:prstGeom>
          <a:noFill/>
        </p:spPr>
        <p:txBody>
          <a:bodyPr wrap="square" rtlCol="0">
            <a:spAutoFit/>
          </a:bodyPr>
          <a:lstStyle/>
          <a:p>
            <a:pPr algn="just"/>
            <a:r>
              <a:rPr lang="en-IN" b="1" u="sng" dirty="0"/>
              <a:t>Paper 1: Agentic Agriculture: A Comprehensive Survey of AI Agents and Agentic AI in Precision Agriculture</a:t>
            </a:r>
          </a:p>
          <a:p>
            <a:pPr algn="just"/>
            <a:r>
              <a:rPr lang="en-IN" sz="1200" b="1" dirty="0"/>
              <a:t>Authors:</a:t>
            </a:r>
            <a:r>
              <a:rPr lang="en-IN" sz="1200" dirty="0"/>
              <a:t> Ranjan Sapkota &amp; Manoj </a:t>
            </a:r>
            <a:r>
              <a:rPr lang="en-IN" sz="1200" dirty="0" err="1"/>
              <a:t>Karkee</a:t>
            </a:r>
            <a:r>
              <a:rPr lang="en-IN" sz="1200" dirty="0"/>
              <a:t> (Cornell University) </a:t>
            </a:r>
            <a:r>
              <a:rPr lang="en-IN" sz="1200" b="1" dirty="0"/>
              <a:t>Publication:</a:t>
            </a:r>
            <a:r>
              <a:rPr lang="en-IN" sz="1200" dirty="0"/>
              <a:t> 2026 (manuscript/preprint on SSRN; formal venue not clearly stated in the document).</a:t>
            </a:r>
          </a:p>
          <a:p>
            <a:pPr algn="just"/>
            <a:r>
              <a:rPr lang="en-IN" dirty="0"/>
              <a:t>	This paper provides a broad survey of the transition from model-centric AI in precision agriculture to autonomous, goal-driven, and collaborative agentic systems. It organizes the field around foundational sensing and advisory agents, multi-agent systems, robotics, digital twins, human-AI collaboration, and autonomous agricultural ecosystems.</a:t>
            </a:r>
          </a:p>
          <a:p>
            <a:pPr algn="just"/>
            <a:endParaRPr lang="en-IN" dirty="0"/>
          </a:p>
          <a:p>
            <a:pPr algn="just"/>
            <a:r>
              <a:rPr lang="en-IN" dirty="0"/>
              <a:t>It’s a literature synthesis, so physical sensing is described as part of the field but not experimentally used.</a:t>
            </a:r>
          </a:p>
        </p:txBody>
      </p:sp>
      <p:sp>
        <p:nvSpPr>
          <p:cNvPr id="3" name="TextBox 2">
            <a:extLst>
              <a:ext uri="{FF2B5EF4-FFF2-40B4-BE49-F238E27FC236}">
                <a16:creationId xmlns:a16="http://schemas.microsoft.com/office/drawing/2014/main" id="{02DE5A55-DBEA-B4A6-891A-941DE99336D4}"/>
              </a:ext>
            </a:extLst>
          </p:cNvPr>
          <p:cNvSpPr txBox="1"/>
          <p:nvPr/>
        </p:nvSpPr>
        <p:spPr>
          <a:xfrm>
            <a:off x="501445" y="3912726"/>
            <a:ext cx="11080955" cy="2492990"/>
          </a:xfrm>
          <a:prstGeom prst="rect">
            <a:avLst/>
          </a:prstGeom>
          <a:noFill/>
        </p:spPr>
        <p:txBody>
          <a:bodyPr wrap="square" rtlCol="0">
            <a:spAutoFit/>
          </a:bodyPr>
          <a:lstStyle/>
          <a:p>
            <a:pPr algn="just"/>
            <a:r>
              <a:rPr lang="en-IN" b="1" u="sng" dirty="0"/>
              <a:t>Paper 2: Agricultural AI Agents: Architecture Design, Business Processes, Key Technologies, and Future Challenges</a:t>
            </a:r>
          </a:p>
          <a:p>
            <a:pPr algn="just"/>
            <a:r>
              <a:rPr lang="en-IN" sz="1200" b="1" dirty="0"/>
              <a:t>Authors:</a:t>
            </a:r>
            <a:r>
              <a:rPr lang="en-IN" sz="1200" dirty="0"/>
              <a:t> </a:t>
            </a:r>
            <a:r>
              <a:rPr lang="en-IN" sz="1200" dirty="0" err="1"/>
              <a:t>Xuehua</a:t>
            </a:r>
            <a:r>
              <a:rPr lang="en-IN" sz="1200" dirty="0"/>
              <a:t> Song, Li Han, Yi Zhu, </a:t>
            </a:r>
            <a:r>
              <a:rPr lang="en-IN" sz="1200" dirty="0" err="1"/>
              <a:t>Qianxiang</a:t>
            </a:r>
            <a:r>
              <a:rPr lang="en-IN" sz="1200" dirty="0"/>
              <a:t> Wei, Zijun Yang, Xiaoming Jiang </a:t>
            </a:r>
            <a:r>
              <a:rPr lang="en-IN" sz="1200" b="1" dirty="0"/>
              <a:t>Journal:</a:t>
            </a:r>
            <a:r>
              <a:rPr lang="en-IN" sz="1200" dirty="0"/>
              <a:t> </a:t>
            </a:r>
            <a:r>
              <a:rPr lang="en-IN" sz="1200" i="1" dirty="0"/>
              <a:t>Applied Sciences</a:t>
            </a:r>
            <a:r>
              <a:rPr lang="en-IN" sz="1200" dirty="0"/>
              <a:t>, Volume 16, Article 5389 </a:t>
            </a:r>
            <a:r>
              <a:rPr lang="en-IN" sz="1200" b="1" dirty="0"/>
              <a:t>Publication:</a:t>
            </a:r>
            <a:r>
              <a:rPr lang="en-IN" sz="1200" dirty="0"/>
              <a:t> 2026.</a:t>
            </a:r>
          </a:p>
          <a:p>
            <a:pPr algn="just"/>
            <a:r>
              <a:rPr lang="en-IN" dirty="0"/>
              <a:t>	This review examines how agricultural AI agents should be designed, organized, and deployed. It focuses on architecture, agricultural business processes, enabling technologies, and future challenges rather than one specific crop or geographical experiment.</a:t>
            </a:r>
          </a:p>
          <a:p>
            <a:pPr algn="just"/>
            <a:endParaRPr lang="en-IN" dirty="0"/>
          </a:p>
          <a:p>
            <a:pPr algn="just"/>
            <a:r>
              <a:rPr lang="en-IN" dirty="0"/>
              <a:t>It emphasizes that embodied agents are critical, but again, this paper is a review—</a:t>
            </a:r>
            <a:r>
              <a:rPr lang="en-IN" b="1" dirty="0"/>
              <a:t>no new physical sensing devices are deployed</a:t>
            </a:r>
            <a:r>
              <a:rPr lang="en-IN" dirty="0"/>
              <a:t>.</a:t>
            </a:r>
          </a:p>
        </p:txBody>
      </p:sp>
      <p:sp>
        <p:nvSpPr>
          <p:cNvPr id="5" name="TextBox 4">
            <a:extLst>
              <a:ext uri="{FF2B5EF4-FFF2-40B4-BE49-F238E27FC236}">
                <a16:creationId xmlns:a16="http://schemas.microsoft.com/office/drawing/2014/main" id="{4655373D-72DB-5C58-5BF1-8F15837F6CB9}"/>
              </a:ext>
            </a:extLst>
          </p:cNvPr>
          <p:cNvSpPr txBox="1"/>
          <p:nvPr/>
        </p:nvSpPr>
        <p:spPr>
          <a:xfrm>
            <a:off x="501445" y="452284"/>
            <a:ext cx="8259097" cy="830997"/>
          </a:xfrm>
          <a:prstGeom prst="rect">
            <a:avLst/>
          </a:prstGeom>
          <a:noFill/>
        </p:spPr>
        <p:txBody>
          <a:bodyPr wrap="square" rtlCol="0">
            <a:spAutoFit/>
          </a:bodyPr>
          <a:lstStyle/>
          <a:p>
            <a:r>
              <a:rPr lang="en-US" sz="4800" dirty="0">
                <a:latin typeface="+mj-lt"/>
              </a:rPr>
              <a:t>Literature Survey:</a:t>
            </a:r>
            <a:endParaRPr lang="en-IN" sz="4800" dirty="0">
              <a:latin typeface="+mj-lt"/>
            </a:endParaRPr>
          </a:p>
        </p:txBody>
      </p:sp>
    </p:spTree>
    <p:extLst>
      <p:ext uri="{BB962C8B-B14F-4D97-AF65-F5344CB8AC3E}">
        <p14:creationId xmlns:p14="http://schemas.microsoft.com/office/powerpoint/2010/main" val="34358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7950CD0-D9E5-DC43-B480-397DBA351B0C}"/>
              </a:ext>
            </a:extLst>
          </p:cNvPr>
          <p:cNvGraphicFramePr>
            <a:graphicFrameLocks noGrp="1"/>
          </p:cNvGraphicFramePr>
          <p:nvPr>
            <p:extLst>
              <p:ext uri="{D42A27DB-BD31-4B8C-83A1-F6EECF244321}">
                <p14:modId xmlns:p14="http://schemas.microsoft.com/office/powerpoint/2010/main" val="903943281"/>
              </p:ext>
            </p:extLst>
          </p:nvPr>
        </p:nvGraphicFramePr>
        <p:xfrm>
          <a:off x="462116" y="3307208"/>
          <a:ext cx="11130114" cy="3464168"/>
        </p:xfrm>
        <a:graphic>
          <a:graphicData uri="http://schemas.openxmlformats.org/drawingml/2006/table">
            <a:tbl>
              <a:tblPr>
                <a:tableStyleId>{5C22544A-7EE6-4342-B048-85BDC9FD1C3A}</a:tableStyleId>
              </a:tblPr>
              <a:tblGrid>
                <a:gridCol w="1855019">
                  <a:extLst>
                    <a:ext uri="{9D8B030D-6E8A-4147-A177-3AD203B41FA5}">
                      <a16:colId xmlns:a16="http://schemas.microsoft.com/office/drawing/2014/main" val="1643118538"/>
                    </a:ext>
                  </a:extLst>
                </a:gridCol>
                <a:gridCol w="1855019">
                  <a:extLst>
                    <a:ext uri="{9D8B030D-6E8A-4147-A177-3AD203B41FA5}">
                      <a16:colId xmlns:a16="http://schemas.microsoft.com/office/drawing/2014/main" val="2518149433"/>
                    </a:ext>
                  </a:extLst>
                </a:gridCol>
                <a:gridCol w="1855019">
                  <a:extLst>
                    <a:ext uri="{9D8B030D-6E8A-4147-A177-3AD203B41FA5}">
                      <a16:colId xmlns:a16="http://schemas.microsoft.com/office/drawing/2014/main" val="3788229389"/>
                    </a:ext>
                  </a:extLst>
                </a:gridCol>
                <a:gridCol w="1855019">
                  <a:extLst>
                    <a:ext uri="{9D8B030D-6E8A-4147-A177-3AD203B41FA5}">
                      <a16:colId xmlns:a16="http://schemas.microsoft.com/office/drawing/2014/main" val="1637764348"/>
                    </a:ext>
                  </a:extLst>
                </a:gridCol>
                <a:gridCol w="1855019">
                  <a:extLst>
                    <a:ext uri="{9D8B030D-6E8A-4147-A177-3AD203B41FA5}">
                      <a16:colId xmlns:a16="http://schemas.microsoft.com/office/drawing/2014/main" val="1876707642"/>
                    </a:ext>
                  </a:extLst>
                </a:gridCol>
                <a:gridCol w="1855019">
                  <a:extLst>
                    <a:ext uri="{9D8B030D-6E8A-4147-A177-3AD203B41FA5}">
                      <a16:colId xmlns:a16="http://schemas.microsoft.com/office/drawing/2014/main" val="3172624088"/>
                    </a:ext>
                  </a:extLst>
                </a:gridCol>
              </a:tblGrid>
              <a:tr h="458317">
                <a:tc>
                  <a:txBody>
                    <a:bodyPr/>
                    <a:lstStyle/>
                    <a:p>
                      <a:pPr>
                        <a:buNone/>
                      </a:pPr>
                      <a:r>
                        <a:rPr lang="en-IN" sz="1700"/>
                        <a:t>Paper</a:t>
                      </a:r>
                    </a:p>
                  </a:txBody>
                  <a:tcPr marL="88803" marR="88803" marT="44401" marB="44401" anchor="ctr"/>
                </a:tc>
                <a:tc>
                  <a:txBody>
                    <a:bodyPr/>
                    <a:lstStyle/>
                    <a:p>
                      <a:pPr>
                        <a:buNone/>
                      </a:pPr>
                      <a:r>
                        <a:rPr lang="en-IN" sz="1700"/>
                        <a:t>Approach</a:t>
                      </a:r>
                    </a:p>
                  </a:txBody>
                  <a:tcPr marL="88803" marR="88803" marT="44401" marB="44401" anchor="ctr"/>
                </a:tc>
                <a:tc>
                  <a:txBody>
                    <a:bodyPr/>
                    <a:lstStyle/>
                    <a:p>
                      <a:pPr>
                        <a:buNone/>
                      </a:pPr>
                      <a:r>
                        <a:rPr lang="en-IN" sz="1700"/>
                        <a:t>Data Used</a:t>
                      </a:r>
                    </a:p>
                  </a:txBody>
                  <a:tcPr marL="88803" marR="88803" marT="44401" marB="44401" anchor="ctr"/>
                </a:tc>
                <a:tc>
                  <a:txBody>
                    <a:bodyPr/>
                    <a:lstStyle/>
                    <a:p>
                      <a:pPr>
                        <a:buNone/>
                      </a:pPr>
                      <a:r>
                        <a:rPr lang="en-IN" sz="1700"/>
                        <a:t>Results</a:t>
                      </a:r>
                    </a:p>
                  </a:txBody>
                  <a:tcPr marL="88803" marR="88803" marT="44401" marB="44401" anchor="ctr"/>
                </a:tc>
                <a:tc>
                  <a:txBody>
                    <a:bodyPr/>
                    <a:lstStyle/>
                    <a:p>
                      <a:pPr>
                        <a:buNone/>
                      </a:pPr>
                      <a:r>
                        <a:rPr lang="en-IN" sz="1700"/>
                        <a:t>Gap</a:t>
                      </a:r>
                    </a:p>
                  </a:txBody>
                  <a:tcPr marL="88803" marR="88803" marT="44401" marB="44401" anchor="ctr"/>
                </a:tc>
                <a:tc>
                  <a:txBody>
                    <a:bodyPr/>
                    <a:lstStyle/>
                    <a:p>
                      <a:pPr>
                        <a:buNone/>
                      </a:pPr>
                      <a:r>
                        <a:rPr lang="en-IN" sz="1700"/>
                        <a:t>AgriAgent Contribution</a:t>
                      </a:r>
                    </a:p>
                  </a:txBody>
                  <a:tcPr marL="88803" marR="88803" marT="44401" marB="44401" anchor="ctr"/>
                </a:tc>
                <a:extLst>
                  <a:ext uri="{0D108BD9-81ED-4DB2-BD59-A6C34878D82A}">
                    <a16:rowId xmlns:a16="http://schemas.microsoft.com/office/drawing/2014/main" val="1830426529"/>
                  </a:ext>
                </a:extLst>
              </a:tr>
              <a:tr h="849580">
                <a:tc>
                  <a:txBody>
                    <a:bodyPr/>
                    <a:lstStyle/>
                    <a:p>
                      <a:pPr>
                        <a:buNone/>
                      </a:pPr>
                      <a:r>
                        <a:rPr lang="en-IN" sz="1700" dirty="0"/>
                        <a:t>1. Survey (Sapkota &amp; </a:t>
                      </a:r>
                      <a:r>
                        <a:rPr lang="en-IN" sz="1700" dirty="0" err="1"/>
                        <a:t>Karkee</a:t>
                      </a:r>
                      <a:r>
                        <a:rPr lang="en-IN" sz="1700" dirty="0"/>
                        <a:t>)</a:t>
                      </a:r>
                    </a:p>
                  </a:txBody>
                  <a:tcPr marL="88803" marR="88803" marT="44401" marB="44401" anchor="ctr"/>
                </a:tc>
                <a:tc>
                  <a:txBody>
                    <a:bodyPr/>
                    <a:lstStyle/>
                    <a:p>
                      <a:pPr>
                        <a:buNone/>
                      </a:pPr>
                      <a:r>
                        <a:rPr lang="en-IN" sz="1700"/>
                        <a:t>Literature synthesis</a:t>
                      </a:r>
                    </a:p>
                  </a:txBody>
                  <a:tcPr marL="88803" marR="88803" marT="44401" marB="44401" anchor="ctr"/>
                </a:tc>
                <a:tc>
                  <a:txBody>
                    <a:bodyPr/>
                    <a:lstStyle/>
                    <a:p>
                      <a:pPr>
                        <a:buNone/>
                      </a:pPr>
                      <a:r>
                        <a:rPr lang="en-IN" sz="1700" dirty="0"/>
                        <a:t>None</a:t>
                      </a:r>
                    </a:p>
                  </a:txBody>
                  <a:tcPr marL="88803" marR="88803" marT="44401" marB="44401" anchor="ctr"/>
                </a:tc>
                <a:tc>
                  <a:txBody>
                    <a:bodyPr/>
                    <a:lstStyle/>
                    <a:p>
                      <a:pPr>
                        <a:buNone/>
                      </a:pPr>
                      <a:r>
                        <a:rPr lang="en-IN" sz="1700"/>
                        <a:t>Conceptual foundation</a:t>
                      </a:r>
                    </a:p>
                  </a:txBody>
                  <a:tcPr marL="88803" marR="88803" marT="44401" marB="44401" anchor="ctr"/>
                </a:tc>
                <a:tc>
                  <a:txBody>
                    <a:bodyPr/>
                    <a:lstStyle/>
                    <a:p>
                      <a:pPr>
                        <a:buNone/>
                      </a:pPr>
                      <a:r>
                        <a:rPr lang="en-IN" sz="1700"/>
                        <a:t>No empirical test</a:t>
                      </a:r>
                    </a:p>
                  </a:txBody>
                  <a:tcPr marL="88803" marR="88803" marT="44401" marB="44401" anchor="ctr"/>
                </a:tc>
                <a:tc>
                  <a:txBody>
                    <a:bodyPr/>
                    <a:lstStyle/>
                    <a:p>
                      <a:pPr>
                        <a:buNone/>
                      </a:pPr>
                      <a:r>
                        <a:rPr lang="en-IN" sz="1700"/>
                        <a:t>Empirical evaluation of agentic orchestration</a:t>
                      </a:r>
                    </a:p>
                  </a:txBody>
                  <a:tcPr marL="88803" marR="88803" marT="44401" marB="44401" anchor="ctr"/>
                </a:tc>
                <a:extLst>
                  <a:ext uri="{0D108BD9-81ED-4DB2-BD59-A6C34878D82A}">
                    <a16:rowId xmlns:a16="http://schemas.microsoft.com/office/drawing/2014/main" val="1352885412"/>
                  </a:ext>
                </a:extLst>
              </a:tr>
              <a:tr h="653949">
                <a:tc>
                  <a:txBody>
                    <a:bodyPr/>
                    <a:lstStyle/>
                    <a:p>
                      <a:pPr>
                        <a:buNone/>
                      </a:pPr>
                      <a:r>
                        <a:rPr lang="en-IN" sz="1700"/>
                        <a:t>2. Architecture (Song et al.)</a:t>
                      </a:r>
                    </a:p>
                  </a:txBody>
                  <a:tcPr marL="88803" marR="88803" marT="44401" marB="44401" anchor="ctr"/>
                </a:tc>
                <a:tc>
                  <a:txBody>
                    <a:bodyPr/>
                    <a:lstStyle/>
                    <a:p>
                      <a:pPr>
                        <a:buNone/>
                      </a:pPr>
                      <a:r>
                        <a:rPr lang="en-IN" sz="1700"/>
                        <a:t>Four‑layer design</a:t>
                      </a:r>
                    </a:p>
                  </a:txBody>
                  <a:tcPr marL="88803" marR="88803" marT="44401" marB="44401" anchor="ctr"/>
                </a:tc>
                <a:tc>
                  <a:txBody>
                    <a:bodyPr/>
                    <a:lstStyle/>
                    <a:p>
                      <a:pPr>
                        <a:buNone/>
                      </a:pPr>
                      <a:r>
                        <a:rPr lang="en-IN" sz="1700"/>
                        <a:t>None</a:t>
                      </a:r>
                    </a:p>
                  </a:txBody>
                  <a:tcPr marL="88803" marR="88803" marT="44401" marB="44401" anchor="ctr"/>
                </a:tc>
                <a:tc>
                  <a:txBody>
                    <a:bodyPr/>
                    <a:lstStyle/>
                    <a:p>
                      <a:pPr>
                        <a:buNone/>
                      </a:pPr>
                      <a:r>
                        <a:rPr lang="en-IN" sz="1700"/>
                        <a:t>Architectural blueprint</a:t>
                      </a:r>
                    </a:p>
                  </a:txBody>
                  <a:tcPr marL="88803" marR="88803" marT="44401" marB="44401" anchor="ctr"/>
                </a:tc>
                <a:tc>
                  <a:txBody>
                    <a:bodyPr/>
                    <a:lstStyle/>
                    <a:p>
                      <a:pPr>
                        <a:buNone/>
                      </a:pPr>
                      <a:r>
                        <a:rPr lang="en-IN" sz="1700"/>
                        <a:t>No experiments</a:t>
                      </a:r>
                    </a:p>
                  </a:txBody>
                  <a:tcPr marL="88803" marR="88803" marT="44401" marB="44401" anchor="ctr"/>
                </a:tc>
                <a:tc>
                  <a:txBody>
                    <a:bodyPr/>
                    <a:lstStyle/>
                    <a:p>
                      <a:pPr>
                        <a:buNone/>
                      </a:pPr>
                      <a:r>
                        <a:rPr lang="en-IN" sz="1700"/>
                        <a:t>Operationalize architecture with satellite + weather</a:t>
                      </a:r>
                    </a:p>
                  </a:txBody>
                  <a:tcPr marL="88803" marR="88803" marT="44401" marB="44401" anchor="ctr"/>
                </a:tc>
                <a:extLst>
                  <a:ext uri="{0D108BD9-81ED-4DB2-BD59-A6C34878D82A}">
                    <a16:rowId xmlns:a16="http://schemas.microsoft.com/office/drawing/2014/main" val="2784814248"/>
                  </a:ext>
                </a:extLst>
              </a:tr>
              <a:tr h="653949">
                <a:tc>
                  <a:txBody>
                    <a:bodyPr/>
                    <a:lstStyle/>
                    <a:p>
                      <a:pPr>
                        <a:buNone/>
                      </a:pPr>
                      <a:r>
                        <a:rPr lang="en-IN" sz="1700"/>
                        <a:t>3. Framework (Davcev et al.)</a:t>
                      </a:r>
                    </a:p>
                  </a:txBody>
                  <a:tcPr marL="88803" marR="88803" marT="44401" marB="44401" anchor="ctr"/>
                </a:tc>
                <a:tc>
                  <a:txBody>
                    <a:bodyPr/>
                    <a:lstStyle/>
                    <a:p>
                      <a:pPr>
                        <a:buNone/>
                      </a:pPr>
                      <a:r>
                        <a:rPr lang="en-IN" sz="1700"/>
                        <a:t>IoT + agentic workflow</a:t>
                      </a:r>
                    </a:p>
                  </a:txBody>
                  <a:tcPr marL="88803" marR="88803" marT="44401" marB="44401" anchor="ctr"/>
                </a:tc>
                <a:tc>
                  <a:txBody>
                    <a:bodyPr/>
                    <a:lstStyle/>
                    <a:p>
                      <a:pPr>
                        <a:buNone/>
                      </a:pPr>
                      <a:r>
                        <a:rPr lang="en-IN" sz="1700"/>
                        <a:t>Grapevine imagery + IoT weather</a:t>
                      </a:r>
                    </a:p>
                  </a:txBody>
                  <a:tcPr marL="88803" marR="88803" marT="44401" marB="44401" anchor="ctr"/>
                </a:tc>
                <a:tc>
                  <a:txBody>
                    <a:bodyPr/>
                    <a:lstStyle/>
                    <a:p>
                      <a:pPr>
                        <a:buNone/>
                      </a:pPr>
                      <a:r>
                        <a:rPr lang="en-IN" sz="1700"/>
                        <a:t>Proof‑of‑concept feasibility</a:t>
                      </a:r>
                    </a:p>
                  </a:txBody>
                  <a:tcPr marL="88803" marR="88803" marT="44401" marB="44401" anchor="ctr"/>
                </a:tc>
                <a:tc>
                  <a:txBody>
                    <a:bodyPr/>
                    <a:lstStyle/>
                    <a:p>
                      <a:pPr>
                        <a:buNone/>
                      </a:pPr>
                      <a:r>
                        <a:rPr lang="en-IN" sz="1700"/>
                        <a:t>No real deployment</a:t>
                      </a:r>
                    </a:p>
                  </a:txBody>
                  <a:tcPr marL="88803" marR="88803" marT="44401" marB="44401" anchor="ctr"/>
                </a:tc>
                <a:tc>
                  <a:txBody>
                    <a:bodyPr/>
                    <a:lstStyle/>
                    <a:p>
                      <a:pPr>
                        <a:buNone/>
                      </a:pPr>
                      <a:r>
                        <a:rPr lang="en-IN" sz="1700" dirty="0"/>
                        <a:t>Extend to satellite + weather, crop recommendation</a:t>
                      </a:r>
                    </a:p>
                  </a:txBody>
                  <a:tcPr marL="88803" marR="88803" marT="44401" marB="44401" anchor="ctr"/>
                </a:tc>
                <a:extLst>
                  <a:ext uri="{0D108BD9-81ED-4DB2-BD59-A6C34878D82A}">
                    <a16:rowId xmlns:a16="http://schemas.microsoft.com/office/drawing/2014/main" val="1551436838"/>
                  </a:ext>
                </a:extLst>
              </a:tr>
            </a:tbl>
          </a:graphicData>
        </a:graphic>
      </p:graphicFrame>
      <p:sp>
        <p:nvSpPr>
          <p:cNvPr id="4" name="TextBox 3">
            <a:extLst>
              <a:ext uri="{FF2B5EF4-FFF2-40B4-BE49-F238E27FC236}">
                <a16:creationId xmlns:a16="http://schemas.microsoft.com/office/drawing/2014/main" id="{96364446-5667-FDB1-B0E3-B9F866663B0B}"/>
              </a:ext>
            </a:extLst>
          </p:cNvPr>
          <p:cNvSpPr txBox="1"/>
          <p:nvPr/>
        </p:nvSpPr>
        <p:spPr>
          <a:xfrm>
            <a:off x="462116" y="256895"/>
            <a:ext cx="11248104" cy="3046988"/>
          </a:xfrm>
          <a:prstGeom prst="rect">
            <a:avLst/>
          </a:prstGeom>
          <a:noFill/>
        </p:spPr>
        <p:txBody>
          <a:bodyPr wrap="square" rtlCol="0">
            <a:spAutoFit/>
          </a:bodyPr>
          <a:lstStyle/>
          <a:p>
            <a:pPr algn="just"/>
            <a:r>
              <a:rPr lang="en-IN" b="1" u="sng" dirty="0"/>
              <a:t>Paper 3: Agentic AI-Based IoT Precision Agriculture Framework—Our Vision and Challenges</a:t>
            </a:r>
          </a:p>
          <a:p>
            <a:pPr algn="just"/>
            <a:r>
              <a:rPr lang="en-IN" sz="1200" b="1" dirty="0"/>
              <a:t>Authors:</a:t>
            </a:r>
            <a:r>
              <a:rPr lang="en-IN" sz="1200" dirty="0"/>
              <a:t> Danco </a:t>
            </a:r>
            <a:r>
              <a:rPr lang="en-IN" sz="1200" dirty="0" err="1"/>
              <a:t>Davcev</a:t>
            </a:r>
            <a:r>
              <a:rPr lang="en-IN" sz="1200" dirty="0"/>
              <a:t>, Slobodan </a:t>
            </a:r>
            <a:r>
              <a:rPr lang="en-IN" sz="1200" dirty="0" err="1"/>
              <a:t>Kalajdziski</a:t>
            </a:r>
            <a:r>
              <a:rPr lang="en-IN" sz="1200" dirty="0"/>
              <a:t>, Ivica Dimitrovski, Ivan Kitanovski, Kosta </a:t>
            </a:r>
            <a:r>
              <a:rPr lang="en-IN" sz="1200" dirty="0" err="1"/>
              <a:t>Mitreski</a:t>
            </a:r>
            <a:r>
              <a:rPr lang="en-IN" sz="1200" dirty="0"/>
              <a:t> </a:t>
            </a:r>
            <a:r>
              <a:rPr lang="en-IN" sz="1200" b="1" dirty="0"/>
              <a:t>Journal:</a:t>
            </a:r>
            <a:r>
              <a:rPr lang="en-IN" sz="1200" dirty="0"/>
              <a:t> </a:t>
            </a:r>
            <a:r>
              <a:rPr lang="en-IN" sz="1200" i="1" dirty="0" err="1"/>
              <a:t>AgriEngineering</a:t>
            </a:r>
            <a:r>
              <a:rPr lang="en-IN" sz="1200" dirty="0"/>
              <a:t>, Volume 8, Article 147 </a:t>
            </a:r>
            <a:r>
              <a:rPr lang="en-IN" sz="1200" b="1" dirty="0"/>
              <a:t>Publication:</a:t>
            </a:r>
            <a:r>
              <a:rPr lang="en-IN" sz="1200" dirty="0"/>
              <a:t> 2026.</a:t>
            </a:r>
            <a:endParaRPr lang="en-IN" dirty="0"/>
          </a:p>
          <a:p>
            <a:pPr algn="just"/>
            <a:r>
              <a:rPr lang="en-IN" dirty="0"/>
              <a:t>	This paper proposes an agentic AI and IoT framework for coordinated, closed-loop perception-decision-action in precision agriculture. It uses precision viticulture and disease management as a representative use case.</a:t>
            </a:r>
          </a:p>
          <a:p>
            <a:pPr algn="just"/>
            <a:endParaRPr lang="en-IN" dirty="0"/>
          </a:p>
          <a:p>
            <a:pPr algn="just"/>
            <a:r>
              <a:rPr lang="en-IN" dirty="0"/>
              <a:t>This is the only paper of the three that </a:t>
            </a:r>
            <a:r>
              <a:rPr lang="en-IN" b="1" dirty="0"/>
              <a:t>implements physical sensing devices</a:t>
            </a:r>
            <a:r>
              <a:rPr lang="en-IN" dirty="0"/>
              <a:t> in its proof-of-concept, though still limited to a controlled dataset rather than full field deployment.</a:t>
            </a:r>
          </a:p>
          <a:p>
            <a:pPr lvl="0" algn="just"/>
            <a:r>
              <a:rPr lang="en-IN" b="1" dirty="0"/>
              <a:t>Grapevine disease imagery</a:t>
            </a:r>
            <a:r>
              <a:rPr lang="en-IN" dirty="0"/>
              <a:t> → for vision-based disease detection (YOLO-family models).</a:t>
            </a:r>
          </a:p>
          <a:p>
            <a:pPr lvl="0" algn="just"/>
            <a:r>
              <a:rPr lang="en-IN" b="1" dirty="0"/>
              <a:t>Environmental sensor measurements</a:t>
            </a:r>
            <a:r>
              <a:rPr lang="en-IN" dirty="0"/>
              <a:t> (temperature, humidity, precipitation) → for disease-risk reasoning (</a:t>
            </a:r>
            <a:r>
              <a:rPr lang="en-IN" dirty="0" err="1"/>
              <a:t>TabPFN</a:t>
            </a:r>
            <a:r>
              <a:rPr lang="en-IN" dirty="0"/>
              <a:t> models).</a:t>
            </a:r>
          </a:p>
          <a:p>
            <a:pPr algn="just"/>
            <a:endParaRPr lang="en-IN" dirty="0"/>
          </a:p>
        </p:txBody>
      </p:sp>
    </p:spTree>
    <p:extLst>
      <p:ext uri="{BB962C8B-B14F-4D97-AF65-F5344CB8AC3E}">
        <p14:creationId xmlns:p14="http://schemas.microsoft.com/office/powerpoint/2010/main" val="3823828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B4C6-9537-D37A-3512-C6998A751826}"/>
              </a:ext>
            </a:extLst>
          </p:cNvPr>
          <p:cNvSpPr>
            <a:spLocks noGrp="1"/>
          </p:cNvSpPr>
          <p:nvPr>
            <p:ph type="title"/>
          </p:nvPr>
        </p:nvSpPr>
        <p:spPr>
          <a:xfrm>
            <a:off x="270386" y="237788"/>
            <a:ext cx="10515600" cy="1010908"/>
          </a:xfrm>
        </p:spPr>
        <p:txBody>
          <a:bodyPr>
            <a:normAutofit/>
          </a:bodyPr>
          <a:lstStyle/>
          <a:p>
            <a:r>
              <a:rPr lang="en-IN" b="1" dirty="0"/>
              <a:t>Key Dataset Sources for </a:t>
            </a:r>
            <a:r>
              <a:rPr lang="en-IN" b="1" dirty="0" err="1"/>
              <a:t>AgriAgent</a:t>
            </a:r>
            <a:br>
              <a:rPr lang="en-IN" b="1" dirty="0"/>
            </a:br>
            <a:endParaRPr lang="en-IN" dirty="0"/>
          </a:p>
        </p:txBody>
      </p:sp>
      <p:sp>
        <p:nvSpPr>
          <p:cNvPr id="3" name="TextBox 2">
            <a:extLst>
              <a:ext uri="{FF2B5EF4-FFF2-40B4-BE49-F238E27FC236}">
                <a16:creationId xmlns:a16="http://schemas.microsoft.com/office/drawing/2014/main" id="{46351E08-7F56-2A75-9571-7F27A2F73C6D}"/>
              </a:ext>
            </a:extLst>
          </p:cNvPr>
          <p:cNvSpPr txBox="1"/>
          <p:nvPr/>
        </p:nvSpPr>
        <p:spPr>
          <a:xfrm>
            <a:off x="147484" y="1052989"/>
            <a:ext cx="3401962" cy="5632311"/>
          </a:xfrm>
          <a:prstGeom prst="rect">
            <a:avLst/>
          </a:prstGeom>
          <a:noFill/>
        </p:spPr>
        <p:txBody>
          <a:bodyPr wrap="square" rtlCol="0">
            <a:spAutoFit/>
          </a:bodyPr>
          <a:lstStyle/>
          <a:p>
            <a:pPr algn="just"/>
            <a:r>
              <a:rPr lang="en-IN" b="1" dirty="0"/>
              <a:t>FAO Agricultural Stress Index System (ASIS)</a:t>
            </a:r>
          </a:p>
          <a:p>
            <a:pPr lvl="0" algn="just"/>
            <a:r>
              <a:rPr lang="en-IN" b="1" dirty="0"/>
              <a:t>Content:</a:t>
            </a:r>
            <a:r>
              <a:rPr lang="en-IN" dirty="0"/>
              <a:t> NDVI anomaly, Vegetation Condition Index (VCI), Vegetation Health Index (VHI), drought intensity, precipitation anomalies.</a:t>
            </a:r>
          </a:p>
          <a:p>
            <a:pPr lvl="0" algn="just"/>
            <a:r>
              <a:rPr lang="en-IN" b="1" dirty="0"/>
              <a:t>Coverage:</a:t>
            </a:r>
            <a:r>
              <a:rPr lang="en-IN" dirty="0"/>
              <a:t> Global, 1 km resolution, 1984–present.</a:t>
            </a:r>
          </a:p>
          <a:p>
            <a:pPr lvl="0" algn="just"/>
            <a:r>
              <a:rPr lang="en-IN" b="1" dirty="0"/>
              <a:t>Access:</a:t>
            </a:r>
            <a:endParaRPr lang="en-IN" dirty="0"/>
          </a:p>
          <a:p>
            <a:pPr lvl="1" algn="just"/>
            <a:r>
              <a:rPr lang="en-IN" dirty="0"/>
              <a:t>FAO </a:t>
            </a:r>
            <a:r>
              <a:rPr lang="en-IN" dirty="0" err="1"/>
              <a:t>Agro</a:t>
            </a:r>
            <a:r>
              <a:rPr lang="en-IN" dirty="0"/>
              <a:t>-informatics Platform: </a:t>
            </a:r>
            <a:r>
              <a:rPr lang="en-IN" dirty="0">
                <a:hlinkClick r:id="rId2"/>
              </a:rPr>
              <a:t>FAO Data Portal</a:t>
            </a:r>
            <a:endParaRPr lang="en-IN" dirty="0"/>
          </a:p>
          <a:p>
            <a:pPr lvl="1" algn="just"/>
            <a:r>
              <a:rPr lang="en-IN" dirty="0"/>
              <a:t>Google Earth Engine (GEE) assets (request via email).</a:t>
            </a:r>
          </a:p>
          <a:p>
            <a:pPr lvl="0" algn="just"/>
            <a:r>
              <a:rPr lang="en-IN" b="1" dirty="0"/>
              <a:t>License:</a:t>
            </a:r>
            <a:r>
              <a:rPr lang="en-IN" dirty="0"/>
              <a:t> Creative Commons Attribution 4.0 (CC-BY-4.0).</a:t>
            </a:r>
          </a:p>
          <a:p>
            <a:pPr lvl="0" algn="just"/>
            <a:r>
              <a:rPr lang="en-IN" b="1" dirty="0"/>
              <a:t>Use Case:</a:t>
            </a:r>
            <a:r>
              <a:rPr lang="en-IN" dirty="0"/>
              <a:t> Long-term vegetation health monitoring and drought stress analysis.</a:t>
            </a:r>
          </a:p>
          <a:p>
            <a:pPr algn="just"/>
            <a:endParaRPr lang="en-IN" dirty="0"/>
          </a:p>
        </p:txBody>
      </p:sp>
      <p:sp>
        <p:nvSpPr>
          <p:cNvPr id="4" name="TextBox 3">
            <a:extLst>
              <a:ext uri="{FF2B5EF4-FFF2-40B4-BE49-F238E27FC236}">
                <a16:creationId xmlns:a16="http://schemas.microsoft.com/office/drawing/2014/main" id="{EF35037A-B770-BE42-D845-6A3E3AD5D005}"/>
              </a:ext>
            </a:extLst>
          </p:cNvPr>
          <p:cNvSpPr txBox="1"/>
          <p:nvPr/>
        </p:nvSpPr>
        <p:spPr>
          <a:xfrm>
            <a:off x="3994355" y="1052989"/>
            <a:ext cx="3330678" cy="4801314"/>
          </a:xfrm>
          <a:prstGeom prst="rect">
            <a:avLst/>
          </a:prstGeom>
          <a:noFill/>
        </p:spPr>
        <p:txBody>
          <a:bodyPr wrap="square" rtlCol="0">
            <a:spAutoFit/>
          </a:bodyPr>
          <a:lstStyle/>
          <a:p>
            <a:pPr algn="just"/>
            <a:r>
              <a:rPr lang="en-IN" b="1" dirty="0"/>
              <a:t>NASA GIMMS / GLAM (Global Agricultural Monitoring)</a:t>
            </a:r>
          </a:p>
          <a:p>
            <a:pPr lvl="0" algn="just"/>
            <a:r>
              <a:rPr lang="en-IN" b="1" dirty="0"/>
              <a:t>Content:</a:t>
            </a:r>
            <a:r>
              <a:rPr lang="en-IN" dirty="0"/>
              <a:t> Global NDVI imagery and time series.</a:t>
            </a:r>
          </a:p>
          <a:p>
            <a:pPr lvl="0" algn="just"/>
            <a:r>
              <a:rPr lang="en-IN" b="1" dirty="0"/>
              <a:t>Sensors:</a:t>
            </a:r>
            <a:endParaRPr lang="en-IN" dirty="0"/>
          </a:p>
          <a:p>
            <a:pPr lvl="1" algn="just"/>
            <a:r>
              <a:rPr lang="en-IN" dirty="0"/>
              <a:t>VIIRS (NOAA-20, S-NPP) – 8-day composites at 250–500 m resolution.</a:t>
            </a:r>
          </a:p>
          <a:p>
            <a:pPr lvl="1" algn="just"/>
            <a:r>
              <a:rPr lang="en-IN" dirty="0"/>
              <a:t>Sentinel-3 OLCI – 10-day composites at 300 m resolution.</a:t>
            </a:r>
          </a:p>
          <a:p>
            <a:pPr lvl="0" algn="just"/>
            <a:r>
              <a:rPr lang="en-IN" b="1" dirty="0"/>
              <a:t>Access:</a:t>
            </a:r>
            <a:r>
              <a:rPr lang="en-IN" dirty="0"/>
              <a:t> GIMMS/GLAM System </a:t>
            </a:r>
            <a:r>
              <a:rPr lang="en-IN" dirty="0">
                <a:hlinkClick r:id="rId3"/>
              </a:rPr>
              <a:t>(glam1.gsfc.nasa.gov in Bing)</a:t>
            </a:r>
            <a:endParaRPr lang="en-IN" dirty="0"/>
          </a:p>
          <a:p>
            <a:pPr lvl="0" algn="just"/>
            <a:r>
              <a:rPr lang="en-IN" b="1" dirty="0"/>
              <a:t>Use Case:</a:t>
            </a:r>
            <a:r>
              <a:rPr lang="en-IN" dirty="0"/>
              <a:t> Near real-time vegetation monitoring, crop condition assessment.</a:t>
            </a:r>
          </a:p>
          <a:p>
            <a:pPr algn="just"/>
            <a:endParaRPr lang="en-IN" dirty="0"/>
          </a:p>
        </p:txBody>
      </p:sp>
      <p:sp>
        <p:nvSpPr>
          <p:cNvPr id="5" name="TextBox 4">
            <a:extLst>
              <a:ext uri="{FF2B5EF4-FFF2-40B4-BE49-F238E27FC236}">
                <a16:creationId xmlns:a16="http://schemas.microsoft.com/office/drawing/2014/main" id="{3DD3D22A-8EEC-E46F-26BA-563A1EC29C58}"/>
              </a:ext>
            </a:extLst>
          </p:cNvPr>
          <p:cNvSpPr txBox="1"/>
          <p:nvPr/>
        </p:nvSpPr>
        <p:spPr>
          <a:xfrm>
            <a:off x="7747819" y="1052989"/>
            <a:ext cx="4173794" cy="5632311"/>
          </a:xfrm>
          <a:prstGeom prst="rect">
            <a:avLst/>
          </a:prstGeom>
          <a:noFill/>
        </p:spPr>
        <p:txBody>
          <a:bodyPr wrap="square" rtlCol="0">
            <a:spAutoFit/>
          </a:bodyPr>
          <a:lstStyle/>
          <a:p>
            <a:pPr algn="just"/>
            <a:r>
              <a:rPr lang="en-IN" b="1" dirty="0" err="1"/>
              <a:t>YieldSAT</a:t>
            </a:r>
            <a:r>
              <a:rPr lang="en-IN" b="1" dirty="0"/>
              <a:t> (Multimodal Benchmark Dataset, CVPR 2026)</a:t>
            </a:r>
          </a:p>
          <a:p>
            <a:pPr lvl="0" algn="just"/>
            <a:r>
              <a:rPr lang="en-IN" b="1" dirty="0"/>
              <a:t>Content:</a:t>
            </a:r>
            <a:endParaRPr lang="en-IN" dirty="0"/>
          </a:p>
          <a:p>
            <a:pPr lvl="1" algn="just"/>
            <a:r>
              <a:rPr lang="en-IN" dirty="0"/>
              <a:t>Sentinel-2 time series (multispectral imagery).</a:t>
            </a:r>
          </a:p>
          <a:p>
            <a:pPr lvl="1" algn="just"/>
            <a:r>
              <a:rPr lang="en-IN" dirty="0"/>
              <a:t>Weather, soil, topography data.</a:t>
            </a:r>
          </a:p>
          <a:p>
            <a:pPr lvl="1" algn="just"/>
            <a:r>
              <a:rPr lang="en-IN" dirty="0"/>
              <a:t>Combine harvester yield data (ground truth).</a:t>
            </a:r>
          </a:p>
          <a:p>
            <a:pPr lvl="0" algn="just"/>
            <a:r>
              <a:rPr lang="en-IN" b="1" dirty="0"/>
              <a:t>Coverage:</a:t>
            </a:r>
            <a:r>
              <a:rPr lang="en-IN" dirty="0"/>
              <a:t> 4 countries (Argentina, Brazil, Uruguay, Germany), 4 crop types (corn, rapeseed, soybeans, wheat), 9 years (2016–2024).</a:t>
            </a:r>
          </a:p>
          <a:p>
            <a:pPr lvl="0" algn="just"/>
            <a:r>
              <a:rPr lang="en-IN" b="1" dirty="0"/>
              <a:t>Scale:</a:t>
            </a:r>
            <a:r>
              <a:rPr lang="en-IN" dirty="0"/>
              <a:t> 12.2 million yield samples, 113,555 </a:t>
            </a:r>
            <a:r>
              <a:rPr lang="en-IN" dirty="0" err="1"/>
              <a:t>labeled</a:t>
            </a:r>
            <a:r>
              <a:rPr lang="en-IN" dirty="0"/>
              <a:t> satellite images, 10 m resolution.</a:t>
            </a:r>
          </a:p>
          <a:p>
            <a:pPr lvl="0" algn="just"/>
            <a:r>
              <a:rPr lang="en-IN" b="1" dirty="0"/>
              <a:t>Formats:</a:t>
            </a:r>
            <a:r>
              <a:rPr lang="en-IN" dirty="0"/>
              <a:t> ML-ready (</a:t>
            </a:r>
            <a:r>
              <a:rPr lang="en-IN" dirty="0" err="1"/>
              <a:t>Xarray</a:t>
            </a:r>
            <a:r>
              <a:rPr lang="en-IN" dirty="0"/>
              <a:t>) and flexible modality-separated files.</a:t>
            </a:r>
          </a:p>
          <a:p>
            <a:pPr lvl="0" algn="just"/>
            <a:r>
              <a:rPr lang="en-IN" b="1" dirty="0"/>
              <a:t>Access:</a:t>
            </a:r>
            <a:r>
              <a:rPr lang="en-IN" dirty="0"/>
              <a:t> Dataset + tutorials available via GitHub/</a:t>
            </a:r>
            <a:r>
              <a:rPr lang="en-IN" dirty="0" err="1"/>
              <a:t>ArXiv</a:t>
            </a:r>
            <a:r>
              <a:rPr lang="en-IN" dirty="0"/>
              <a:t> (search “</a:t>
            </a:r>
            <a:r>
              <a:rPr lang="en-IN" dirty="0" err="1"/>
              <a:t>YieldSAT</a:t>
            </a:r>
            <a:r>
              <a:rPr lang="en-IN" dirty="0"/>
              <a:t> dataset”).</a:t>
            </a:r>
          </a:p>
          <a:p>
            <a:pPr algn="just"/>
            <a:endParaRPr lang="en-IN" dirty="0"/>
          </a:p>
        </p:txBody>
      </p:sp>
    </p:spTree>
    <p:extLst>
      <p:ext uri="{BB962C8B-B14F-4D97-AF65-F5344CB8AC3E}">
        <p14:creationId xmlns:p14="http://schemas.microsoft.com/office/powerpoint/2010/main" val="2774025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D4F86-044E-5095-9E22-81ADC4FB373C}"/>
              </a:ext>
            </a:extLst>
          </p:cNvPr>
          <p:cNvSpPr>
            <a:spLocks noGrp="1"/>
          </p:cNvSpPr>
          <p:nvPr>
            <p:ph type="title"/>
          </p:nvPr>
        </p:nvSpPr>
        <p:spPr/>
        <p:txBody>
          <a:bodyPr/>
          <a:lstStyle/>
          <a:p>
            <a:r>
              <a:rPr lang="en-IN" b="1" dirty="0"/>
              <a:t>Comparison Table</a:t>
            </a:r>
          </a:p>
        </p:txBody>
      </p:sp>
      <p:graphicFrame>
        <p:nvGraphicFramePr>
          <p:cNvPr id="3" name="Table 2">
            <a:extLst>
              <a:ext uri="{FF2B5EF4-FFF2-40B4-BE49-F238E27FC236}">
                <a16:creationId xmlns:a16="http://schemas.microsoft.com/office/drawing/2014/main" id="{E3F1A509-131D-3042-2AB5-EDB12A929CB8}"/>
              </a:ext>
            </a:extLst>
          </p:cNvPr>
          <p:cNvGraphicFramePr>
            <a:graphicFrameLocks noGrp="1"/>
          </p:cNvGraphicFramePr>
          <p:nvPr/>
        </p:nvGraphicFramePr>
        <p:xfrm>
          <a:off x="457200" y="2583974"/>
          <a:ext cx="10515600" cy="283464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554807109"/>
                    </a:ext>
                  </a:extLst>
                </a:gridCol>
                <a:gridCol w="2103120">
                  <a:extLst>
                    <a:ext uri="{9D8B030D-6E8A-4147-A177-3AD203B41FA5}">
                      <a16:colId xmlns:a16="http://schemas.microsoft.com/office/drawing/2014/main" val="3849939220"/>
                    </a:ext>
                  </a:extLst>
                </a:gridCol>
                <a:gridCol w="2103120">
                  <a:extLst>
                    <a:ext uri="{9D8B030D-6E8A-4147-A177-3AD203B41FA5}">
                      <a16:colId xmlns:a16="http://schemas.microsoft.com/office/drawing/2014/main" val="1646752047"/>
                    </a:ext>
                  </a:extLst>
                </a:gridCol>
                <a:gridCol w="2103120">
                  <a:extLst>
                    <a:ext uri="{9D8B030D-6E8A-4147-A177-3AD203B41FA5}">
                      <a16:colId xmlns:a16="http://schemas.microsoft.com/office/drawing/2014/main" val="1204624883"/>
                    </a:ext>
                  </a:extLst>
                </a:gridCol>
                <a:gridCol w="2103120">
                  <a:extLst>
                    <a:ext uri="{9D8B030D-6E8A-4147-A177-3AD203B41FA5}">
                      <a16:colId xmlns:a16="http://schemas.microsoft.com/office/drawing/2014/main" val="3163581968"/>
                    </a:ext>
                  </a:extLst>
                </a:gridCol>
              </a:tblGrid>
              <a:tr h="0">
                <a:tc>
                  <a:txBody>
                    <a:bodyPr/>
                    <a:lstStyle/>
                    <a:p>
                      <a:pPr>
                        <a:buNone/>
                      </a:pPr>
                      <a:r>
                        <a:rPr lang="en-IN"/>
                        <a:t>Dataset</a:t>
                      </a:r>
                    </a:p>
                  </a:txBody>
                  <a:tcPr anchor="ctr"/>
                </a:tc>
                <a:tc>
                  <a:txBody>
                    <a:bodyPr/>
                    <a:lstStyle/>
                    <a:p>
                      <a:pPr>
                        <a:buNone/>
                      </a:pPr>
                      <a:r>
                        <a:rPr lang="en-IN"/>
                        <a:t>Data Types</a:t>
                      </a:r>
                    </a:p>
                  </a:txBody>
                  <a:tcPr anchor="ctr"/>
                </a:tc>
                <a:tc>
                  <a:txBody>
                    <a:bodyPr/>
                    <a:lstStyle/>
                    <a:p>
                      <a:pPr>
                        <a:buNone/>
                      </a:pPr>
                      <a:r>
                        <a:rPr lang="en-IN"/>
                        <a:t>Resolution</a:t>
                      </a:r>
                    </a:p>
                  </a:txBody>
                  <a:tcPr anchor="ctr"/>
                </a:tc>
                <a:tc>
                  <a:txBody>
                    <a:bodyPr/>
                    <a:lstStyle/>
                    <a:p>
                      <a:pPr>
                        <a:buNone/>
                      </a:pPr>
                      <a:r>
                        <a:rPr lang="en-IN"/>
                        <a:t>Coverage</a:t>
                      </a:r>
                    </a:p>
                  </a:txBody>
                  <a:tcPr anchor="ctr"/>
                </a:tc>
                <a:tc>
                  <a:txBody>
                    <a:bodyPr/>
                    <a:lstStyle/>
                    <a:p>
                      <a:pPr>
                        <a:buNone/>
                      </a:pPr>
                      <a:r>
                        <a:rPr lang="en-IN"/>
                        <a:t>Best Use Case</a:t>
                      </a:r>
                    </a:p>
                  </a:txBody>
                  <a:tcPr anchor="ctr"/>
                </a:tc>
                <a:extLst>
                  <a:ext uri="{0D108BD9-81ED-4DB2-BD59-A6C34878D82A}">
                    <a16:rowId xmlns:a16="http://schemas.microsoft.com/office/drawing/2014/main" val="1636689318"/>
                  </a:ext>
                </a:extLst>
              </a:tr>
              <a:tr h="0">
                <a:tc>
                  <a:txBody>
                    <a:bodyPr/>
                    <a:lstStyle/>
                    <a:p>
                      <a:pPr>
                        <a:buNone/>
                      </a:pPr>
                      <a:r>
                        <a:rPr lang="en-IN"/>
                        <a:t>FAO ASIS</a:t>
                      </a:r>
                    </a:p>
                  </a:txBody>
                  <a:tcPr anchor="ctr"/>
                </a:tc>
                <a:tc>
                  <a:txBody>
                    <a:bodyPr/>
                    <a:lstStyle/>
                    <a:p>
                      <a:pPr>
                        <a:buNone/>
                      </a:pPr>
                      <a:r>
                        <a:rPr lang="en-IN"/>
                        <a:t>NDVI, VCI, VHI, drought, precipitation</a:t>
                      </a:r>
                    </a:p>
                  </a:txBody>
                  <a:tcPr anchor="ctr"/>
                </a:tc>
                <a:tc>
                  <a:txBody>
                    <a:bodyPr/>
                    <a:lstStyle/>
                    <a:p>
                      <a:pPr>
                        <a:buNone/>
                      </a:pPr>
                      <a:r>
                        <a:rPr lang="en-IN"/>
                        <a:t>1 km</a:t>
                      </a:r>
                    </a:p>
                  </a:txBody>
                  <a:tcPr anchor="ctr"/>
                </a:tc>
                <a:tc>
                  <a:txBody>
                    <a:bodyPr/>
                    <a:lstStyle/>
                    <a:p>
                      <a:pPr>
                        <a:buNone/>
                      </a:pPr>
                      <a:r>
                        <a:rPr lang="en-IN"/>
                        <a:t>Global, 1984–present</a:t>
                      </a:r>
                    </a:p>
                  </a:txBody>
                  <a:tcPr anchor="ctr"/>
                </a:tc>
                <a:tc>
                  <a:txBody>
                    <a:bodyPr/>
                    <a:lstStyle/>
                    <a:p>
                      <a:pPr>
                        <a:buNone/>
                      </a:pPr>
                      <a:r>
                        <a:rPr lang="en-IN"/>
                        <a:t>Long-term vegetation &amp; drought stress</a:t>
                      </a:r>
                    </a:p>
                  </a:txBody>
                  <a:tcPr anchor="ctr"/>
                </a:tc>
                <a:extLst>
                  <a:ext uri="{0D108BD9-81ED-4DB2-BD59-A6C34878D82A}">
                    <a16:rowId xmlns:a16="http://schemas.microsoft.com/office/drawing/2014/main" val="1692203273"/>
                  </a:ext>
                </a:extLst>
              </a:tr>
              <a:tr h="0">
                <a:tc>
                  <a:txBody>
                    <a:bodyPr/>
                    <a:lstStyle/>
                    <a:p>
                      <a:pPr>
                        <a:buNone/>
                      </a:pPr>
                      <a:r>
                        <a:rPr lang="en-IN"/>
                        <a:t>NASA GIMMS/GLAM</a:t>
                      </a:r>
                    </a:p>
                  </a:txBody>
                  <a:tcPr anchor="ctr"/>
                </a:tc>
                <a:tc>
                  <a:txBody>
                    <a:bodyPr/>
                    <a:lstStyle/>
                    <a:p>
                      <a:pPr>
                        <a:buNone/>
                      </a:pPr>
                      <a:r>
                        <a:rPr lang="en-IN"/>
                        <a:t>NDVI imagery &amp; time series</a:t>
                      </a:r>
                    </a:p>
                  </a:txBody>
                  <a:tcPr anchor="ctr"/>
                </a:tc>
                <a:tc>
                  <a:txBody>
                    <a:bodyPr/>
                    <a:lstStyle/>
                    <a:p>
                      <a:pPr>
                        <a:buNone/>
                      </a:pPr>
                      <a:r>
                        <a:rPr lang="en-IN"/>
                        <a:t>250–500 m (VIIRS), 300 m (Sentinel-3)</a:t>
                      </a:r>
                    </a:p>
                  </a:txBody>
                  <a:tcPr anchor="ctr"/>
                </a:tc>
                <a:tc>
                  <a:txBody>
                    <a:bodyPr/>
                    <a:lstStyle/>
                    <a:p>
                      <a:pPr>
                        <a:buNone/>
                      </a:pPr>
                      <a:r>
                        <a:rPr lang="en-IN"/>
                        <a:t>Global, near real-time</a:t>
                      </a:r>
                    </a:p>
                  </a:txBody>
                  <a:tcPr anchor="ctr"/>
                </a:tc>
                <a:tc>
                  <a:txBody>
                    <a:bodyPr/>
                    <a:lstStyle/>
                    <a:p>
                      <a:pPr>
                        <a:buNone/>
                      </a:pPr>
                      <a:r>
                        <a:rPr lang="en-IN"/>
                        <a:t>Crop condition monitoring</a:t>
                      </a:r>
                    </a:p>
                  </a:txBody>
                  <a:tcPr anchor="ctr"/>
                </a:tc>
                <a:extLst>
                  <a:ext uri="{0D108BD9-81ED-4DB2-BD59-A6C34878D82A}">
                    <a16:rowId xmlns:a16="http://schemas.microsoft.com/office/drawing/2014/main" val="1417307735"/>
                  </a:ext>
                </a:extLst>
              </a:tr>
              <a:tr h="0">
                <a:tc>
                  <a:txBody>
                    <a:bodyPr/>
                    <a:lstStyle/>
                    <a:p>
                      <a:pPr>
                        <a:buNone/>
                      </a:pPr>
                      <a:r>
                        <a:rPr lang="en-IN"/>
                        <a:t>YieldSAT</a:t>
                      </a:r>
                    </a:p>
                  </a:txBody>
                  <a:tcPr anchor="ctr"/>
                </a:tc>
                <a:tc>
                  <a:txBody>
                    <a:bodyPr/>
                    <a:lstStyle/>
                    <a:p>
                      <a:pPr>
                        <a:buNone/>
                      </a:pPr>
                      <a:r>
                        <a:rPr lang="en-IN"/>
                        <a:t>Sentinel-2, weather, soil, yield</a:t>
                      </a:r>
                    </a:p>
                  </a:txBody>
                  <a:tcPr anchor="ctr"/>
                </a:tc>
                <a:tc>
                  <a:txBody>
                    <a:bodyPr/>
                    <a:lstStyle/>
                    <a:p>
                      <a:pPr>
                        <a:buNone/>
                      </a:pPr>
                      <a:r>
                        <a:rPr lang="en-IN"/>
                        <a:t>10 m</a:t>
                      </a:r>
                    </a:p>
                  </a:txBody>
                  <a:tcPr anchor="ctr"/>
                </a:tc>
                <a:tc>
                  <a:txBody>
                    <a:bodyPr/>
                    <a:lstStyle/>
                    <a:p>
                      <a:pPr>
                        <a:buNone/>
                      </a:pPr>
                      <a:r>
                        <a:rPr lang="en-IN"/>
                        <a:t>Argentina, Brazil, Uruguay, Germany (2016–2024)</a:t>
                      </a:r>
                    </a:p>
                  </a:txBody>
                  <a:tcPr anchor="ctr"/>
                </a:tc>
                <a:tc>
                  <a:txBody>
                    <a:bodyPr/>
                    <a:lstStyle/>
                    <a:p>
                      <a:pPr>
                        <a:buNone/>
                      </a:pPr>
                      <a:r>
                        <a:rPr lang="en-IN" dirty="0"/>
                        <a:t>High-resolution crop yield prediction</a:t>
                      </a:r>
                    </a:p>
                  </a:txBody>
                  <a:tcPr anchor="ctr"/>
                </a:tc>
                <a:extLst>
                  <a:ext uri="{0D108BD9-81ED-4DB2-BD59-A6C34878D82A}">
                    <a16:rowId xmlns:a16="http://schemas.microsoft.com/office/drawing/2014/main" val="953676163"/>
                  </a:ext>
                </a:extLst>
              </a:tr>
            </a:tbl>
          </a:graphicData>
        </a:graphic>
      </p:graphicFrame>
    </p:spTree>
    <p:extLst>
      <p:ext uri="{BB962C8B-B14F-4D97-AF65-F5344CB8AC3E}">
        <p14:creationId xmlns:p14="http://schemas.microsoft.com/office/powerpoint/2010/main" val="3316018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0B0F-1579-8F02-541B-8F9C2D7FE43D}"/>
              </a:ext>
            </a:extLst>
          </p:cNvPr>
          <p:cNvSpPr>
            <a:spLocks noGrp="1"/>
          </p:cNvSpPr>
          <p:nvPr>
            <p:ph type="title"/>
          </p:nvPr>
        </p:nvSpPr>
        <p:spPr>
          <a:xfrm>
            <a:off x="457200" y="277762"/>
            <a:ext cx="10515600" cy="872612"/>
          </a:xfrm>
        </p:spPr>
        <p:txBody>
          <a:bodyPr/>
          <a:lstStyle/>
          <a:p>
            <a:r>
              <a:rPr lang="en-IN" b="1" dirty="0"/>
              <a:t>Kaggle Datasets</a:t>
            </a:r>
          </a:p>
        </p:txBody>
      </p:sp>
      <p:graphicFrame>
        <p:nvGraphicFramePr>
          <p:cNvPr id="3" name="Table 2">
            <a:extLst>
              <a:ext uri="{FF2B5EF4-FFF2-40B4-BE49-F238E27FC236}">
                <a16:creationId xmlns:a16="http://schemas.microsoft.com/office/drawing/2014/main" id="{0403609E-8934-7E67-2A20-1B61B8DF5520}"/>
              </a:ext>
            </a:extLst>
          </p:cNvPr>
          <p:cNvGraphicFramePr>
            <a:graphicFrameLocks noGrp="1"/>
          </p:cNvGraphicFramePr>
          <p:nvPr>
            <p:extLst>
              <p:ext uri="{D42A27DB-BD31-4B8C-83A1-F6EECF244321}">
                <p14:modId xmlns:p14="http://schemas.microsoft.com/office/powerpoint/2010/main" val="2880174349"/>
              </p:ext>
            </p:extLst>
          </p:nvPr>
        </p:nvGraphicFramePr>
        <p:xfrm>
          <a:off x="457200" y="1502748"/>
          <a:ext cx="10515600" cy="256032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2401720316"/>
                    </a:ext>
                  </a:extLst>
                </a:gridCol>
                <a:gridCol w="2628900">
                  <a:extLst>
                    <a:ext uri="{9D8B030D-6E8A-4147-A177-3AD203B41FA5}">
                      <a16:colId xmlns:a16="http://schemas.microsoft.com/office/drawing/2014/main" val="4141180652"/>
                    </a:ext>
                  </a:extLst>
                </a:gridCol>
                <a:gridCol w="2628900">
                  <a:extLst>
                    <a:ext uri="{9D8B030D-6E8A-4147-A177-3AD203B41FA5}">
                      <a16:colId xmlns:a16="http://schemas.microsoft.com/office/drawing/2014/main" val="2502644346"/>
                    </a:ext>
                  </a:extLst>
                </a:gridCol>
                <a:gridCol w="2628900">
                  <a:extLst>
                    <a:ext uri="{9D8B030D-6E8A-4147-A177-3AD203B41FA5}">
                      <a16:colId xmlns:a16="http://schemas.microsoft.com/office/drawing/2014/main" val="1705202480"/>
                    </a:ext>
                  </a:extLst>
                </a:gridCol>
              </a:tblGrid>
              <a:tr h="0">
                <a:tc>
                  <a:txBody>
                    <a:bodyPr/>
                    <a:lstStyle/>
                    <a:p>
                      <a:pPr>
                        <a:buNone/>
                      </a:pPr>
                      <a:r>
                        <a:rPr lang="en-IN"/>
                        <a:t>Dataset</a:t>
                      </a:r>
                    </a:p>
                  </a:txBody>
                  <a:tcPr anchor="ctr"/>
                </a:tc>
                <a:tc>
                  <a:txBody>
                    <a:bodyPr/>
                    <a:lstStyle/>
                    <a:p>
                      <a:pPr>
                        <a:buNone/>
                      </a:pPr>
                      <a:r>
                        <a:rPr lang="en-IN"/>
                        <a:t>Data Types</a:t>
                      </a:r>
                    </a:p>
                  </a:txBody>
                  <a:tcPr anchor="ctr"/>
                </a:tc>
                <a:tc>
                  <a:txBody>
                    <a:bodyPr/>
                    <a:lstStyle/>
                    <a:p>
                      <a:pPr>
                        <a:buNone/>
                      </a:pPr>
                      <a:r>
                        <a:rPr lang="en-IN" dirty="0"/>
                        <a:t>Coverage</a:t>
                      </a:r>
                    </a:p>
                  </a:txBody>
                  <a:tcPr anchor="ctr"/>
                </a:tc>
                <a:tc>
                  <a:txBody>
                    <a:bodyPr/>
                    <a:lstStyle/>
                    <a:p>
                      <a:pPr>
                        <a:buNone/>
                      </a:pPr>
                      <a:r>
                        <a:rPr lang="en-IN"/>
                        <a:t>Best Use Case</a:t>
                      </a:r>
                    </a:p>
                  </a:txBody>
                  <a:tcPr anchor="ctr"/>
                </a:tc>
                <a:extLst>
                  <a:ext uri="{0D108BD9-81ED-4DB2-BD59-A6C34878D82A}">
                    <a16:rowId xmlns:a16="http://schemas.microsoft.com/office/drawing/2014/main" val="2322577531"/>
                  </a:ext>
                </a:extLst>
              </a:tr>
              <a:tr h="0">
                <a:tc>
                  <a:txBody>
                    <a:bodyPr/>
                    <a:lstStyle/>
                    <a:p>
                      <a:pPr>
                        <a:buNone/>
                      </a:pPr>
                      <a:r>
                        <a:rPr lang="en-IN"/>
                        <a:t>Sentinel‑2 Labels</a:t>
                      </a:r>
                    </a:p>
                  </a:txBody>
                  <a:tcPr anchor="ctr"/>
                </a:tc>
                <a:tc>
                  <a:txBody>
                    <a:bodyPr/>
                    <a:lstStyle/>
                    <a:p>
                      <a:pPr>
                        <a:buNone/>
                      </a:pPr>
                      <a:r>
                        <a:rPr lang="en-IN"/>
                        <a:t>NDVI, spectral bands, land cover classes</a:t>
                      </a:r>
                    </a:p>
                  </a:txBody>
                  <a:tcPr anchor="ctr"/>
                </a:tc>
                <a:tc>
                  <a:txBody>
                    <a:bodyPr/>
                    <a:lstStyle/>
                    <a:p>
                      <a:pPr>
                        <a:buNone/>
                      </a:pPr>
                      <a:r>
                        <a:rPr lang="en-IN"/>
                        <a:t>Central India, 2020–2024</a:t>
                      </a:r>
                    </a:p>
                  </a:txBody>
                  <a:tcPr anchor="ctr"/>
                </a:tc>
                <a:tc>
                  <a:txBody>
                    <a:bodyPr/>
                    <a:lstStyle/>
                    <a:p>
                      <a:pPr>
                        <a:buNone/>
                      </a:pPr>
                      <a:r>
                        <a:rPr lang="en-IN"/>
                        <a:t>Farm boundary + vegetation health</a:t>
                      </a:r>
                    </a:p>
                  </a:txBody>
                  <a:tcPr anchor="ctr"/>
                </a:tc>
                <a:extLst>
                  <a:ext uri="{0D108BD9-81ED-4DB2-BD59-A6C34878D82A}">
                    <a16:rowId xmlns:a16="http://schemas.microsoft.com/office/drawing/2014/main" val="309807036"/>
                  </a:ext>
                </a:extLst>
              </a:tr>
              <a:tr h="0">
                <a:tc>
                  <a:txBody>
                    <a:bodyPr/>
                    <a:lstStyle/>
                    <a:p>
                      <a:pPr>
                        <a:buNone/>
                      </a:pPr>
                      <a:r>
                        <a:rPr lang="en-IN"/>
                        <a:t>Yield Forecasting</a:t>
                      </a:r>
                    </a:p>
                  </a:txBody>
                  <a:tcPr anchor="ctr"/>
                </a:tc>
                <a:tc>
                  <a:txBody>
                    <a:bodyPr/>
                    <a:lstStyle/>
                    <a:p>
                      <a:pPr>
                        <a:buNone/>
                      </a:pPr>
                      <a:r>
                        <a:rPr lang="en-IN"/>
                        <a:t>NDVI, SAVI, NDWI, weather, crop type, yield</a:t>
                      </a:r>
                    </a:p>
                  </a:txBody>
                  <a:tcPr anchor="ctr"/>
                </a:tc>
                <a:tc>
                  <a:txBody>
                    <a:bodyPr/>
                    <a:lstStyle/>
                    <a:p>
                      <a:pPr>
                        <a:buNone/>
                      </a:pPr>
                      <a:r>
                        <a:rPr lang="en-IN"/>
                        <a:t>Multiple fields, time series</a:t>
                      </a:r>
                    </a:p>
                  </a:txBody>
                  <a:tcPr anchor="ctr"/>
                </a:tc>
                <a:tc>
                  <a:txBody>
                    <a:bodyPr/>
                    <a:lstStyle/>
                    <a:p>
                      <a:pPr>
                        <a:buNone/>
                      </a:pPr>
                      <a:r>
                        <a:rPr lang="en-IN"/>
                        <a:t>Crop yield regression</a:t>
                      </a:r>
                    </a:p>
                  </a:txBody>
                  <a:tcPr anchor="ctr"/>
                </a:tc>
                <a:extLst>
                  <a:ext uri="{0D108BD9-81ED-4DB2-BD59-A6C34878D82A}">
                    <a16:rowId xmlns:a16="http://schemas.microsoft.com/office/drawing/2014/main" val="777933790"/>
                  </a:ext>
                </a:extLst>
              </a:tr>
              <a:tr h="0">
                <a:tc>
                  <a:txBody>
                    <a:bodyPr/>
                    <a:lstStyle/>
                    <a:p>
                      <a:pPr>
                        <a:buNone/>
                      </a:pPr>
                      <a:r>
                        <a:rPr lang="en-IN"/>
                        <a:t>AgriYield</a:t>
                      </a:r>
                    </a:p>
                  </a:txBody>
                  <a:tcPr anchor="ctr"/>
                </a:tc>
                <a:tc>
                  <a:txBody>
                    <a:bodyPr/>
                    <a:lstStyle/>
                    <a:p>
                      <a:pPr>
                        <a:buNone/>
                      </a:pPr>
                      <a:r>
                        <a:rPr lang="en-IN" dirty="0"/>
                        <a:t>Soil, weather, NDVI/EVI/LAI, management, yield</a:t>
                      </a:r>
                    </a:p>
                  </a:txBody>
                  <a:tcPr anchor="ctr"/>
                </a:tc>
                <a:tc>
                  <a:txBody>
                    <a:bodyPr/>
                    <a:lstStyle/>
                    <a:p>
                      <a:pPr>
                        <a:buNone/>
                      </a:pPr>
                      <a:r>
                        <a:rPr lang="en-IN"/>
                        <a:t>Global zones, maize crop</a:t>
                      </a:r>
                    </a:p>
                  </a:txBody>
                  <a:tcPr anchor="ctr"/>
                </a:tc>
                <a:tc>
                  <a:txBody>
                    <a:bodyPr/>
                    <a:lstStyle/>
                    <a:p>
                      <a:pPr>
                        <a:buNone/>
                      </a:pPr>
                      <a:r>
                        <a:rPr lang="en-IN" dirty="0"/>
                        <a:t>Multimodal crop yield prediction</a:t>
                      </a:r>
                    </a:p>
                  </a:txBody>
                  <a:tcPr anchor="ctr"/>
                </a:tc>
                <a:extLst>
                  <a:ext uri="{0D108BD9-81ED-4DB2-BD59-A6C34878D82A}">
                    <a16:rowId xmlns:a16="http://schemas.microsoft.com/office/drawing/2014/main" val="2163014920"/>
                  </a:ext>
                </a:extLst>
              </a:tr>
            </a:tbl>
          </a:graphicData>
        </a:graphic>
      </p:graphicFrame>
      <p:sp>
        <p:nvSpPr>
          <p:cNvPr id="4" name="TextBox 3">
            <a:extLst>
              <a:ext uri="{FF2B5EF4-FFF2-40B4-BE49-F238E27FC236}">
                <a16:creationId xmlns:a16="http://schemas.microsoft.com/office/drawing/2014/main" id="{14989C69-9BC0-FA42-339E-A6464EF7365D}"/>
              </a:ext>
            </a:extLst>
          </p:cNvPr>
          <p:cNvSpPr txBox="1"/>
          <p:nvPr/>
        </p:nvSpPr>
        <p:spPr>
          <a:xfrm>
            <a:off x="457200" y="4524054"/>
            <a:ext cx="10294375" cy="1477328"/>
          </a:xfrm>
          <a:prstGeom prst="rect">
            <a:avLst/>
          </a:prstGeom>
          <a:noFill/>
        </p:spPr>
        <p:txBody>
          <a:bodyPr wrap="square" rtlCol="0">
            <a:spAutoFit/>
          </a:bodyPr>
          <a:lstStyle/>
          <a:p>
            <a:r>
              <a:rPr lang="en-IN" dirty="0" err="1">
                <a:hlinkClick r:id="rId2"/>
              </a:rPr>
              <a:t>AgriYield</a:t>
            </a:r>
            <a:r>
              <a:rPr lang="en-IN" dirty="0">
                <a:hlinkClick r:id="rId2"/>
              </a:rPr>
              <a:t>: Predict Crop Yield from Soil, Weather | Kaggle</a:t>
            </a:r>
            <a:r>
              <a:rPr lang="en-IN" dirty="0"/>
              <a:t> - Designed as a benchmark for crop yield prediction using </a:t>
            </a:r>
            <a:r>
              <a:rPr lang="en-IN" b="1" dirty="0"/>
              <a:t>soil, weather, and satellite indices</a:t>
            </a:r>
            <a:r>
              <a:rPr lang="en-IN" dirty="0"/>
              <a:t>.</a:t>
            </a:r>
            <a:br>
              <a:rPr lang="en-IN" dirty="0"/>
            </a:br>
            <a:r>
              <a:rPr lang="en-IN" dirty="0">
                <a:hlinkClick r:id="rId3"/>
              </a:rPr>
              <a:t>canopy height | Kaggle</a:t>
            </a:r>
            <a:r>
              <a:rPr lang="en-IN" dirty="0"/>
              <a:t> - Provides canopy height measurements from satellite/LiDAR sources.</a:t>
            </a:r>
          </a:p>
          <a:p>
            <a:r>
              <a:rPr lang="en-IN" dirty="0">
                <a:hlinkClick r:id="rId4"/>
              </a:rPr>
              <a:t>Sentinel-2 Agricultural Land Cover Labels</a:t>
            </a:r>
            <a:r>
              <a:rPr lang="en-IN" dirty="0"/>
              <a:t> - </a:t>
            </a:r>
            <a:r>
              <a:rPr lang="en-IN" dirty="0" err="1"/>
              <a:t>Labeled</a:t>
            </a:r>
            <a:r>
              <a:rPr lang="en-IN" dirty="0"/>
              <a:t> Sentinel‑2 imagery for </a:t>
            </a:r>
            <a:r>
              <a:rPr lang="en-IN" b="1" dirty="0"/>
              <a:t>burnt fields, residue, bare soil, and growing crops</a:t>
            </a:r>
            <a:r>
              <a:rPr lang="en-IN" dirty="0"/>
              <a:t>.</a:t>
            </a:r>
          </a:p>
        </p:txBody>
      </p:sp>
    </p:spTree>
    <p:extLst>
      <p:ext uri="{BB962C8B-B14F-4D97-AF65-F5344CB8AC3E}">
        <p14:creationId xmlns:p14="http://schemas.microsoft.com/office/powerpoint/2010/main" val="2132203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131D-8429-162B-43E1-B94808BF9E04}"/>
              </a:ext>
            </a:extLst>
          </p:cNvPr>
          <p:cNvSpPr>
            <a:spLocks noGrp="1"/>
          </p:cNvSpPr>
          <p:nvPr>
            <p:ph type="title"/>
          </p:nvPr>
        </p:nvSpPr>
        <p:spPr>
          <a:xfrm>
            <a:off x="285135" y="523568"/>
            <a:ext cx="10515600" cy="833284"/>
          </a:xfrm>
        </p:spPr>
        <p:txBody>
          <a:bodyPr>
            <a:normAutofit/>
          </a:bodyPr>
          <a:lstStyle/>
          <a:p>
            <a:r>
              <a:rPr lang="en-IN" dirty="0"/>
              <a:t>Questions on Kaggle vs. Actual Satellite Data</a:t>
            </a:r>
          </a:p>
        </p:txBody>
      </p:sp>
      <p:sp>
        <p:nvSpPr>
          <p:cNvPr id="3" name="TextBox 2">
            <a:extLst>
              <a:ext uri="{FF2B5EF4-FFF2-40B4-BE49-F238E27FC236}">
                <a16:creationId xmlns:a16="http://schemas.microsoft.com/office/drawing/2014/main" id="{1D210994-9AD8-4855-55AA-35379F92B483}"/>
              </a:ext>
            </a:extLst>
          </p:cNvPr>
          <p:cNvSpPr txBox="1"/>
          <p:nvPr/>
        </p:nvSpPr>
        <p:spPr>
          <a:xfrm>
            <a:off x="285135" y="1888836"/>
            <a:ext cx="11149781" cy="3970318"/>
          </a:xfrm>
          <a:prstGeom prst="rect">
            <a:avLst/>
          </a:prstGeom>
          <a:noFill/>
        </p:spPr>
        <p:txBody>
          <a:bodyPr wrap="square" rtlCol="0">
            <a:spAutoFit/>
          </a:bodyPr>
          <a:lstStyle/>
          <a:p>
            <a:pPr lvl="0" algn="just"/>
            <a:r>
              <a:rPr lang="en-IN" dirty="0"/>
              <a:t>How do Kaggle datasets (</a:t>
            </a:r>
            <a:r>
              <a:rPr lang="en-IN" dirty="0" err="1"/>
              <a:t>AgriYield</a:t>
            </a:r>
            <a:r>
              <a:rPr lang="en-IN" dirty="0"/>
              <a:t>, Canopy Height, </a:t>
            </a:r>
            <a:r>
              <a:rPr lang="en-IN" dirty="0" err="1"/>
              <a:t>AgriBurn</a:t>
            </a:r>
            <a:r>
              <a:rPr lang="en-IN" dirty="0"/>
              <a:t>) compare to </a:t>
            </a:r>
            <a:r>
              <a:rPr lang="en-IN" b="1" dirty="0"/>
              <a:t>real satellite sources</a:t>
            </a:r>
            <a:r>
              <a:rPr lang="en-IN" dirty="0"/>
              <a:t> like Sentinel‑2, Landsat, or FAO ASIS in terms of resolution, coverage, and reliability?</a:t>
            </a:r>
          </a:p>
          <a:p>
            <a:pPr lvl="0" algn="just"/>
            <a:endParaRPr lang="en-IN" dirty="0"/>
          </a:p>
          <a:p>
            <a:pPr lvl="0" algn="just"/>
            <a:r>
              <a:rPr lang="en-IN" dirty="0"/>
              <a:t>Should Kaggle datasets be treated mainly as </a:t>
            </a:r>
            <a:r>
              <a:rPr lang="en-IN" b="1" dirty="0"/>
              <a:t>proof-of-concept benchmarks</a:t>
            </a:r>
            <a:r>
              <a:rPr lang="en-IN" dirty="0"/>
              <a:t>, while actual satellite APIs (Google Earth Engine, NASA GLAM, FAO ASIS) are used for deployment?</a:t>
            </a:r>
          </a:p>
          <a:p>
            <a:pPr lvl="0" algn="just"/>
            <a:endParaRPr lang="en-IN" dirty="0"/>
          </a:p>
          <a:p>
            <a:pPr lvl="0" algn="just"/>
            <a:r>
              <a:rPr lang="en-IN" dirty="0"/>
              <a:t>What preprocessing differences exist between Kaggle datasets (already cleaned) and raw satellite imagery (cloud masking, atmospheric correction)?</a:t>
            </a:r>
          </a:p>
          <a:p>
            <a:pPr lvl="0" algn="just"/>
            <a:endParaRPr lang="en-IN" dirty="0"/>
          </a:p>
          <a:p>
            <a:pPr lvl="0" algn="just"/>
            <a:r>
              <a:rPr lang="en-IN" dirty="0"/>
              <a:t>How do we ensure </a:t>
            </a:r>
            <a:r>
              <a:rPr lang="en-IN" b="1" dirty="0"/>
              <a:t>generalization</a:t>
            </a:r>
            <a:r>
              <a:rPr lang="en-IN" dirty="0"/>
              <a:t>—if Kaggle datasets are region‑specific (India, Europe), can models trained on them adapt to other geographies?</a:t>
            </a:r>
          </a:p>
          <a:p>
            <a:pPr lvl="0" algn="just"/>
            <a:endParaRPr lang="en-IN" dirty="0"/>
          </a:p>
          <a:p>
            <a:pPr lvl="0" algn="just"/>
            <a:r>
              <a:rPr lang="en-IN" dirty="0"/>
              <a:t>What is the best way to </a:t>
            </a:r>
            <a:r>
              <a:rPr lang="en-IN" b="1" dirty="0"/>
              <a:t>fuse Kaggle datasets with live satellite streams</a:t>
            </a:r>
            <a:r>
              <a:rPr lang="en-IN" dirty="0"/>
              <a:t> for </a:t>
            </a:r>
            <a:r>
              <a:rPr lang="en-IN" dirty="0" err="1"/>
              <a:t>AgriAgent’s</a:t>
            </a:r>
            <a:r>
              <a:rPr lang="en-IN" dirty="0"/>
              <a:t> adaptive orchestration?</a:t>
            </a:r>
          </a:p>
          <a:p>
            <a:pPr algn="just"/>
            <a:endParaRPr lang="en-IN" dirty="0"/>
          </a:p>
        </p:txBody>
      </p:sp>
    </p:spTree>
    <p:extLst>
      <p:ext uri="{BB962C8B-B14F-4D97-AF65-F5344CB8AC3E}">
        <p14:creationId xmlns:p14="http://schemas.microsoft.com/office/powerpoint/2010/main" val="240733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8E24A5-FFE1-25E2-B395-7DFF7DE5D41A}"/>
              </a:ext>
            </a:extLst>
          </p:cNvPr>
          <p:cNvSpPr txBox="1"/>
          <p:nvPr/>
        </p:nvSpPr>
        <p:spPr>
          <a:xfrm>
            <a:off x="226141" y="167149"/>
            <a:ext cx="11464413" cy="2862322"/>
          </a:xfrm>
          <a:prstGeom prst="rect">
            <a:avLst/>
          </a:prstGeom>
          <a:noFill/>
        </p:spPr>
        <p:txBody>
          <a:bodyPr wrap="square" rtlCol="0">
            <a:spAutoFit/>
          </a:bodyPr>
          <a:lstStyle/>
          <a:p>
            <a:pPr algn="just"/>
            <a:r>
              <a:rPr lang="en-US" b="1" u="sng" dirty="0"/>
              <a:t>Paper 4: MA3 (Multimodal Agricultural Agent Architecture)“</a:t>
            </a:r>
          </a:p>
          <a:p>
            <a:pPr algn="just"/>
            <a:r>
              <a:rPr lang="en-US" dirty="0"/>
              <a:t>This paper is MA3. It addresses the problem that standard AI models are good with text but struggle to read specialized farm maps, like satellite view inputs or crop health grids.</a:t>
            </a:r>
          </a:p>
          <a:p>
            <a:pPr algn="just"/>
            <a:endParaRPr lang="en-US" dirty="0"/>
          </a:p>
          <a:p>
            <a:pPr algn="just"/>
            <a:r>
              <a:rPr lang="en-US" dirty="0"/>
              <a:t>What they did: The authors built a system that connects a visual processing module directly into the main AI brain. This allows the system to look at a satellite map—like an NDVI vegetation health index—and read a farmer’s written guidelines together at the same time.</a:t>
            </a:r>
          </a:p>
          <a:p>
            <a:pPr algn="just"/>
            <a:endParaRPr lang="en-US" dirty="0"/>
          </a:p>
          <a:p>
            <a:pPr algn="just"/>
            <a:r>
              <a:rPr lang="en-US" dirty="0"/>
              <a:t>The results: It achieved much higher accuracy in understanding farm layout data and made far fewer wrong guesses than standard AI. It provides us with the direct blueprint for our Multimodal Data Ingestion Layer."</a:t>
            </a:r>
            <a:endParaRPr lang="en-IN" dirty="0"/>
          </a:p>
        </p:txBody>
      </p:sp>
      <p:sp>
        <p:nvSpPr>
          <p:cNvPr id="3" name="TextBox 2">
            <a:extLst>
              <a:ext uri="{FF2B5EF4-FFF2-40B4-BE49-F238E27FC236}">
                <a16:creationId xmlns:a16="http://schemas.microsoft.com/office/drawing/2014/main" id="{0CEE5F61-8E56-88B7-E728-E9B5B90AD639}"/>
              </a:ext>
            </a:extLst>
          </p:cNvPr>
          <p:cNvSpPr txBox="1"/>
          <p:nvPr/>
        </p:nvSpPr>
        <p:spPr>
          <a:xfrm>
            <a:off x="226141" y="3274531"/>
            <a:ext cx="11464413" cy="3416320"/>
          </a:xfrm>
          <a:prstGeom prst="rect">
            <a:avLst/>
          </a:prstGeom>
          <a:noFill/>
        </p:spPr>
        <p:txBody>
          <a:bodyPr wrap="square" rtlCol="0">
            <a:spAutoFit/>
          </a:bodyPr>
          <a:lstStyle/>
          <a:p>
            <a:pPr algn="just"/>
            <a:r>
              <a:rPr lang="en-US" b="1" u="sng" dirty="0"/>
              <a:t>Paper 5: </a:t>
            </a:r>
            <a:r>
              <a:rPr lang="en-US" b="1" u="sng" dirty="0" err="1"/>
              <a:t>AgroAskAI</a:t>
            </a:r>
            <a:r>
              <a:rPr lang="en-US" b="1" u="sng" dirty="0"/>
              <a:t> </a:t>
            </a:r>
            <a:r>
              <a:rPr lang="en-US" b="1" u="sng" dirty="0" err="1"/>
              <a:t>Framework"The</a:t>
            </a:r>
            <a:r>
              <a:rPr lang="en-US" b="1" u="sng" dirty="0"/>
              <a:t> second paper is </a:t>
            </a:r>
            <a:r>
              <a:rPr lang="en-US" b="1" u="sng" dirty="0" err="1"/>
              <a:t>AgroAskAI</a:t>
            </a:r>
            <a:r>
              <a:rPr lang="en-US" b="1" u="sng" dirty="0"/>
              <a:t>.</a:t>
            </a:r>
            <a:r>
              <a:rPr lang="en-US" u="sng" dirty="0"/>
              <a:t> </a:t>
            </a:r>
          </a:p>
          <a:p>
            <a:pPr algn="just"/>
            <a:r>
              <a:rPr lang="en-US" dirty="0"/>
              <a:t>It addresses the problem that real-world farm data is often messy or missing. For instance, clouds might block a satellite map, or a weather server might drop out. Traditional software just crashes or gives wrong answers when this happens.</a:t>
            </a:r>
          </a:p>
          <a:p>
            <a:pPr algn="just"/>
            <a:endParaRPr lang="en-US" dirty="0"/>
          </a:p>
          <a:p>
            <a:pPr algn="just"/>
            <a:r>
              <a:rPr lang="en-US" dirty="0"/>
              <a:t>What they did: The paper splits the work among three smaller AI sub-agents: a Planner to break down the user's query, an Executor to gather weather/soil statistics, and a Critic to audit everything. If the Critic sees that data is broken or missing, it triggers an intentional recovery loop to either estimate the numbers using historical trends or ask the farmer a clarifying question.</a:t>
            </a:r>
          </a:p>
          <a:p>
            <a:pPr algn="just"/>
            <a:endParaRPr lang="en-US" dirty="0"/>
          </a:p>
          <a:p>
            <a:pPr algn="just"/>
            <a:r>
              <a:rPr lang="en-US" dirty="0"/>
              <a:t>The results: Even with heavily corrupted field data, the system successfully recovered and gave safe advice over 88% of the time. This gives us the exact blueprint for our project's Agentic Orchestration and Error Recovery."</a:t>
            </a:r>
            <a:endParaRPr lang="en-IN" dirty="0"/>
          </a:p>
        </p:txBody>
      </p:sp>
    </p:spTree>
    <p:extLst>
      <p:ext uri="{BB962C8B-B14F-4D97-AF65-F5344CB8AC3E}">
        <p14:creationId xmlns:p14="http://schemas.microsoft.com/office/powerpoint/2010/main" val="2080530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F45092-A99E-06AC-36C2-F4B8A770F6AB}"/>
              </a:ext>
            </a:extLst>
          </p:cNvPr>
          <p:cNvSpPr txBox="1"/>
          <p:nvPr/>
        </p:nvSpPr>
        <p:spPr>
          <a:xfrm>
            <a:off x="255638" y="260183"/>
            <a:ext cx="11592232" cy="3139321"/>
          </a:xfrm>
          <a:prstGeom prst="rect">
            <a:avLst/>
          </a:prstGeom>
          <a:noFill/>
        </p:spPr>
        <p:txBody>
          <a:bodyPr wrap="square" rtlCol="0">
            <a:spAutoFit/>
          </a:bodyPr>
          <a:lstStyle/>
          <a:p>
            <a:pPr algn="just"/>
            <a:r>
              <a:rPr lang="en-US" b="1" u="sng" dirty="0"/>
              <a:t>Paper 6: Building Multi-Agent Copilot towards Autonomous Agricultural Data Management and Analysis</a:t>
            </a:r>
          </a:p>
          <a:p>
            <a:pPr algn="just"/>
            <a:endParaRPr lang="en-US" b="1" u="sng" dirty="0"/>
          </a:p>
          <a:p>
            <a:pPr algn="just"/>
            <a:r>
              <a:rPr lang="en-US" b="1" u="sng" dirty="0"/>
              <a:t> </a:t>
            </a:r>
            <a:r>
              <a:rPr lang="en-US" dirty="0"/>
              <a:t>	</a:t>
            </a:r>
            <a:r>
              <a:rPr lang="en-US" dirty="0" err="1"/>
              <a:t>Summarization:Building</a:t>
            </a:r>
            <a:r>
              <a:rPr lang="en-US" dirty="0"/>
              <a:t> Multi-Agent Copilot towards Autonomous Agricultural Data Management and Analysis is an AI-based system that uses multiple specialized AI agents to handle different agricultural tasks. These agents can independently collect and manage data from sources such as satellite imagery, weather data, soil information, and crop datasets.</a:t>
            </a:r>
          </a:p>
          <a:p>
            <a:pPr algn="just"/>
            <a:endParaRPr lang="en-US" dirty="0"/>
          </a:p>
          <a:p>
            <a:pPr algn="just"/>
            <a:r>
              <a:rPr lang="en-US" dirty="0"/>
              <a:t>	The agents collaborate through a central Copilot/agentic framework to clean and analyze the data, detect important agricultural conditions such as crop stress or weather risks, and generate meaningful insights. The goal is to reduce manual data processing and provide faster, intelligent, and data-driven decision support for farmers, researchers, and agricultural organizations.</a:t>
            </a:r>
            <a:endParaRPr lang="en-IN" dirty="0"/>
          </a:p>
        </p:txBody>
      </p:sp>
      <p:sp>
        <p:nvSpPr>
          <p:cNvPr id="3" name="TextBox 2">
            <a:extLst>
              <a:ext uri="{FF2B5EF4-FFF2-40B4-BE49-F238E27FC236}">
                <a16:creationId xmlns:a16="http://schemas.microsoft.com/office/drawing/2014/main" id="{3469BC45-3DD8-0918-725E-197F57E9410D}"/>
              </a:ext>
            </a:extLst>
          </p:cNvPr>
          <p:cNvSpPr txBox="1"/>
          <p:nvPr/>
        </p:nvSpPr>
        <p:spPr>
          <a:xfrm>
            <a:off x="255638" y="3458497"/>
            <a:ext cx="11680723" cy="3139321"/>
          </a:xfrm>
          <a:prstGeom prst="rect">
            <a:avLst/>
          </a:prstGeom>
          <a:noFill/>
        </p:spPr>
        <p:txBody>
          <a:bodyPr wrap="square" rtlCol="0">
            <a:spAutoFit/>
          </a:bodyPr>
          <a:lstStyle/>
          <a:p>
            <a:pPr algn="just"/>
            <a:r>
              <a:rPr lang="en-US" b="1" u="sng" dirty="0"/>
              <a:t>Paper 7: Decision Support System for Crop Planning and Agricultural Health using Machine and Deep Learning Methods — IEEE, 2025 </a:t>
            </a:r>
          </a:p>
          <a:p>
            <a:pPr algn="just"/>
            <a:endParaRPr lang="en-US" b="1" u="sng" dirty="0"/>
          </a:p>
          <a:p>
            <a:pPr algn="just"/>
            <a:r>
              <a:rPr lang="en-US" dirty="0"/>
              <a:t>	</a:t>
            </a:r>
            <a:r>
              <a:rPr lang="en-US" dirty="0" err="1"/>
              <a:t>Summarization:Decision</a:t>
            </a:r>
            <a:r>
              <a:rPr lang="en-US" dirty="0"/>
              <a:t> Support System for Crop Planning and Agricultural Health using Machine and Deep Learning Methods” is an AI-based system designed to help farmers make better decisions about which crops to grow and how to monitor crop health.</a:t>
            </a:r>
          </a:p>
          <a:p>
            <a:pPr algn="just"/>
            <a:endParaRPr lang="en-US" dirty="0"/>
          </a:p>
          <a:p>
            <a:pPr algn="just"/>
            <a:r>
              <a:rPr lang="en-US" dirty="0"/>
              <a:t>	It uses Machine Learning and Deep Learning techniques to analyze agricultural data such as soil properties, weather conditions, crop information, and possibly images. Based on this analysis, the system can recommend suitable crops and identify potential crop-health problems, helping farmers improve productivity, resource utilization, and crop management.</a:t>
            </a:r>
            <a:endParaRPr lang="en-IN" dirty="0"/>
          </a:p>
        </p:txBody>
      </p:sp>
    </p:spTree>
    <p:extLst>
      <p:ext uri="{BB962C8B-B14F-4D97-AF65-F5344CB8AC3E}">
        <p14:creationId xmlns:p14="http://schemas.microsoft.com/office/powerpoint/2010/main" val="2425953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F0C78-AC93-6A65-5C01-49C3C043CDC9}"/>
              </a:ext>
            </a:extLst>
          </p:cNvPr>
          <p:cNvSpPr>
            <a:spLocks noGrp="1"/>
          </p:cNvSpPr>
          <p:nvPr>
            <p:ph type="title"/>
          </p:nvPr>
        </p:nvSpPr>
        <p:spPr>
          <a:xfrm>
            <a:off x="457200" y="629701"/>
            <a:ext cx="3288890" cy="639607"/>
          </a:xfrm>
        </p:spPr>
        <p:txBody>
          <a:bodyPr>
            <a:normAutofit/>
          </a:bodyPr>
          <a:lstStyle/>
          <a:p>
            <a:r>
              <a:rPr lang="en-IN" dirty="0"/>
              <a:t>Dataset Selection</a:t>
            </a:r>
          </a:p>
        </p:txBody>
      </p:sp>
      <p:sp>
        <p:nvSpPr>
          <p:cNvPr id="3" name="TextBox 2">
            <a:extLst>
              <a:ext uri="{FF2B5EF4-FFF2-40B4-BE49-F238E27FC236}">
                <a16:creationId xmlns:a16="http://schemas.microsoft.com/office/drawing/2014/main" id="{BDE6DC1C-DC2D-A1B1-8BCF-96B1F4DDB6FD}"/>
              </a:ext>
            </a:extLst>
          </p:cNvPr>
          <p:cNvSpPr txBox="1"/>
          <p:nvPr/>
        </p:nvSpPr>
        <p:spPr>
          <a:xfrm>
            <a:off x="457200" y="1800284"/>
            <a:ext cx="3372466" cy="4247317"/>
          </a:xfrm>
          <a:prstGeom prst="rect">
            <a:avLst/>
          </a:prstGeom>
          <a:noFill/>
        </p:spPr>
        <p:txBody>
          <a:bodyPr wrap="square" rtlCol="0">
            <a:spAutoFit/>
          </a:bodyPr>
          <a:lstStyle/>
          <a:p>
            <a:pPr lvl="0"/>
            <a:r>
              <a:rPr lang="en-IN" dirty="0"/>
              <a:t>Which dataset (FAO ASIS, NASA GLAM, </a:t>
            </a:r>
            <a:r>
              <a:rPr lang="en-IN" dirty="0" err="1"/>
              <a:t>YieldSAT</a:t>
            </a:r>
            <a:r>
              <a:rPr lang="en-IN" dirty="0"/>
              <a:t>, ERA5, etc.) best balances </a:t>
            </a:r>
            <a:r>
              <a:rPr lang="en-IN" b="1" dirty="0"/>
              <a:t>resolution vs. coverage</a:t>
            </a:r>
            <a:r>
              <a:rPr lang="en-IN" dirty="0"/>
              <a:t> for my project’s scope?</a:t>
            </a:r>
          </a:p>
          <a:p>
            <a:pPr lvl="0"/>
            <a:endParaRPr lang="en-IN" dirty="0"/>
          </a:p>
          <a:p>
            <a:pPr lvl="0"/>
            <a:r>
              <a:rPr lang="en-IN" dirty="0"/>
              <a:t>How do I decide between </a:t>
            </a:r>
            <a:r>
              <a:rPr lang="en-IN" b="1" dirty="0"/>
              <a:t>global datasets</a:t>
            </a:r>
            <a:r>
              <a:rPr lang="en-IN" dirty="0"/>
              <a:t> (FAO, NASA) and </a:t>
            </a:r>
            <a:r>
              <a:rPr lang="en-IN" b="1" dirty="0"/>
              <a:t>regional datasets</a:t>
            </a:r>
            <a:r>
              <a:rPr lang="en-IN" dirty="0"/>
              <a:t> (e.g., IMD for India)?</a:t>
            </a:r>
          </a:p>
          <a:p>
            <a:pPr lvl="0"/>
            <a:endParaRPr lang="en-IN" dirty="0"/>
          </a:p>
          <a:p>
            <a:pPr lvl="0"/>
            <a:r>
              <a:rPr lang="en-IN" dirty="0"/>
              <a:t>Are there </a:t>
            </a:r>
            <a:r>
              <a:rPr lang="en-IN" b="1" dirty="0"/>
              <a:t>open-access agricultural yield datasets</a:t>
            </a:r>
            <a:r>
              <a:rPr lang="en-IN" dirty="0"/>
              <a:t> that can complement satellite NDVI data?</a:t>
            </a:r>
          </a:p>
          <a:p>
            <a:endParaRPr lang="en-IN" dirty="0"/>
          </a:p>
        </p:txBody>
      </p:sp>
      <p:sp>
        <p:nvSpPr>
          <p:cNvPr id="4" name="TextBox 3">
            <a:extLst>
              <a:ext uri="{FF2B5EF4-FFF2-40B4-BE49-F238E27FC236}">
                <a16:creationId xmlns:a16="http://schemas.microsoft.com/office/drawing/2014/main" id="{32EE10A4-CAFC-230F-7D97-4D7D991D5E80}"/>
              </a:ext>
            </a:extLst>
          </p:cNvPr>
          <p:cNvSpPr txBox="1"/>
          <p:nvPr/>
        </p:nvSpPr>
        <p:spPr>
          <a:xfrm>
            <a:off x="3977150" y="629701"/>
            <a:ext cx="3839495" cy="1077218"/>
          </a:xfrm>
          <a:prstGeom prst="rect">
            <a:avLst/>
          </a:prstGeom>
          <a:noFill/>
        </p:spPr>
        <p:txBody>
          <a:bodyPr wrap="square" rtlCol="0">
            <a:spAutoFit/>
          </a:bodyPr>
          <a:lstStyle/>
          <a:p>
            <a:r>
              <a:rPr lang="en-IN" sz="3200" dirty="0">
                <a:latin typeface="+mj-lt"/>
              </a:rPr>
              <a:t>Satellite &amp; Remote Sensing</a:t>
            </a:r>
          </a:p>
        </p:txBody>
      </p:sp>
      <p:sp>
        <p:nvSpPr>
          <p:cNvPr id="5" name="TextBox 4">
            <a:extLst>
              <a:ext uri="{FF2B5EF4-FFF2-40B4-BE49-F238E27FC236}">
                <a16:creationId xmlns:a16="http://schemas.microsoft.com/office/drawing/2014/main" id="{2F5F1507-63E9-195B-2499-52138E6D1478}"/>
              </a:ext>
            </a:extLst>
          </p:cNvPr>
          <p:cNvSpPr txBox="1"/>
          <p:nvPr/>
        </p:nvSpPr>
        <p:spPr>
          <a:xfrm>
            <a:off x="3977150" y="1800284"/>
            <a:ext cx="3839495" cy="3693319"/>
          </a:xfrm>
          <a:prstGeom prst="rect">
            <a:avLst/>
          </a:prstGeom>
          <a:noFill/>
        </p:spPr>
        <p:txBody>
          <a:bodyPr wrap="square" rtlCol="0">
            <a:spAutoFit/>
          </a:bodyPr>
          <a:lstStyle/>
          <a:p>
            <a:pPr lvl="0"/>
            <a:r>
              <a:rPr lang="en-IN" dirty="0"/>
              <a:t>What preprocessing steps are essential for </a:t>
            </a:r>
            <a:r>
              <a:rPr lang="en-IN" b="1" dirty="0"/>
              <a:t>Sentinel-2 NDVI time series</a:t>
            </a:r>
            <a:r>
              <a:rPr lang="en-IN" dirty="0"/>
              <a:t> (e.g., cloud masking, atmospheric correction)?</a:t>
            </a:r>
          </a:p>
          <a:p>
            <a:pPr lvl="0"/>
            <a:endParaRPr lang="en-IN" dirty="0"/>
          </a:p>
          <a:p>
            <a:pPr lvl="0"/>
            <a:r>
              <a:rPr lang="en-IN" dirty="0"/>
              <a:t>How do I align </a:t>
            </a:r>
            <a:r>
              <a:rPr lang="en-IN" b="1" dirty="0"/>
              <a:t>satellite imagery</a:t>
            </a:r>
            <a:r>
              <a:rPr lang="en-IN" dirty="0"/>
              <a:t> with farm-level boundaries (shapefiles, GPS coordinates)?</a:t>
            </a:r>
          </a:p>
          <a:p>
            <a:pPr lvl="0"/>
            <a:endParaRPr lang="en-IN" dirty="0"/>
          </a:p>
          <a:p>
            <a:pPr lvl="0"/>
            <a:r>
              <a:rPr lang="en-IN" dirty="0"/>
              <a:t>Which vegetation indices beyond NDVI (e.g., EVI, SAVI) should I consider for crop health monitoring?</a:t>
            </a:r>
          </a:p>
          <a:p>
            <a:endParaRPr lang="en-IN" dirty="0"/>
          </a:p>
        </p:txBody>
      </p:sp>
      <p:sp>
        <p:nvSpPr>
          <p:cNvPr id="6" name="TextBox 5">
            <a:extLst>
              <a:ext uri="{FF2B5EF4-FFF2-40B4-BE49-F238E27FC236}">
                <a16:creationId xmlns:a16="http://schemas.microsoft.com/office/drawing/2014/main" id="{AF218249-A854-198F-24DA-025ADFE8D658}"/>
              </a:ext>
            </a:extLst>
          </p:cNvPr>
          <p:cNvSpPr txBox="1"/>
          <p:nvPr/>
        </p:nvSpPr>
        <p:spPr>
          <a:xfrm>
            <a:off x="7816645" y="629701"/>
            <a:ext cx="3918155" cy="584775"/>
          </a:xfrm>
          <a:prstGeom prst="rect">
            <a:avLst/>
          </a:prstGeom>
          <a:noFill/>
        </p:spPr>
        <p:txBody>
          <a:bodyPr wrap="square" rtlCol="0">
            <a:spAutoFit/>
          </a:bodyPr>
          <a:lstStyle/>
          <a:p>
            <a:r>
              <a:rPr lang="en-IN" sz="3200" dirty="0">
                <a:latin typeface="+mj-lt"/>
              </a:rPr>
              <a:t>Weather &amp; Climate</a:t>
            </a:r>
          </a:p>
        </p:txBody>
      </p:sp>
      <p:sp>
        <p:nvSpPr>
          <p:cNvPr id="7" name="TextBox 6">
            <a:extLst>
              <a:ext uri="{FF2B5EF4-FFF2-40B4-BE49-F238E27FC236}">
                <a16:creationId xmlns:a16="http://schemas.microsoft.com/office/drawing/2014/main" id="{ED9920F8-C7CE-FE1B-FB4C-49A36DBF5A70}"/>
              </a:ext>
            </a:extLst>
          </p:cNvPr>
          <p:cNvSpPr txBox="1"/>
          <p:nvPr/>
        </p:nvSpPr>
        <p:spPr>
          <a:xfrm>
            <a:off x="8023123" y="1800284"/>
            <a:ext cx="3711677" cy="2862322"/>
          </a:xfrm>
          <a:prstGeom prst="rect">
            <a:avLst/>
          </a:prstGeom>
          <a:noFill/>
        </p:spPr>
        <p:txBody>
          <a:bodyPr wrap="square" rtlCol="0">
            <a:spAutoFit/>
          </a:bodyPr>
          <a:lstStyle/>
          <a:p>
            <a:pPr lvl="0"/>
            <a:r>
              <a:rPr lang="en-IN" dirty="0"/>
              <a:t>Which weather dataset (ERA5, IMD, NOAA) is most reliable for </a:t>
            </a:r>
            <a:r>
              <a:rPr lang="en-IN" b="1" dirty="0"/>
              <a:t>historical + forecast integration</a:t>
            </a:r>
            <a:r>
              <a:rPr lang="en-IN" dirty="0"/>
              <a:t>?</a:t>
            </a:r>
          </a:p>
          <a:p>
            <a:pPr lvl="0"/>
            <a:r>
              <a:rPr lang="en-IN" dirty="0"/>
              <a:t>How do I handle </a:t>
            </a:r>
            <a:r>
              <a:rPr lang="en-IN" b="1" dirty="0"/>
              <a:t>spatial mismatch</a:t>
            </a:r>
            <a:r>
              <a:rPr lang="en-IN" dirty="0"/>
              <a:t> between coarse weather grids and fine-resolution satellite imagery?</a:t>
            </a:r>
          </a:p>
          <a:p>
            <a:pPr lvl="0"/>
            <a:r>
              <a:rPr lang="en-IN" dirty="0"/>
              <a:t>What features (rainfall, temperature, humidity, evapotranspiration) are most predictive for crop suitability?</a:t>
            </a:r>
          </a:p>
          <a:p>
            <a:endParaRPr lang="en-IN" dirty="0"/>
          </a:p>
        </p:txBody>
      </p:sp>
    </p:spTree>
    <p:extLst>
      <p:ext uri="{BB962C8B-B14F-4D97-AF65-F5344CB8AC3E}">
        <p14:creationId xmlns:p14="http://schemas.microsoft.com/office/powerpoint/2010/main" val="1024785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4BB5-265E-D5D0-DF64-A2576E8FEAAC}"/>
              </a:ext>
            </a:extLst>
          </p:cNvPr>
          <p:cNvSpPr>
            <a:spLocks noGrp="1"/>
          </p:cNvSpPr>
          <p:nvPr>
            <p:ph type="title"/>
          </p:nvPr>
        </p:nvSpPr>
        <p:spPr>
          <a:xfrm>
            <a:off x="1076632" y="2850356"/>
            <a:ext cx="10515600" cy="1157288"/>
          </a:xfrm>
        </p:spPr>
        <p:txBody>
          <a:bodyPr/>
          <a:lstStyle/>
          <a:p>
            <a:r>
              <a:rPr lang="en-US" dirty="0"/>
              <a:t>Thank you!!!</a:t>
            </a:r>
            <a:endParaRPr lang="en-IN" dirty="0"/>
          </a:p>
        </p:txBody>
      </p:sp>
    </p:spTree>
    <p:extLst>
      <p:ext uri="{BB962C8B-B14F-4D97-AF65-F5344CB8AC3E}">
        <p14:creationId xmlns:p14="http://schemas.microsoft.com/office/powerpoint/2010/main" val="1184292761"/>
      </p:ext>
    </p:extLst>
  </p:cSld>
  <p:clrMapOvr>
    <a:masterClrMapping/>
  </p:clrMapOvr>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FC7F6458-703E-4B19-BAF9-E88A9B02521B}" vid="{6FBA4037-BA28-4926-BD89-6C54034403A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Shoji</Template>
  <TotalTime>253</TotalTime>
  <Words>2099</Words>
  <Application>Microsoft Office PowerPoint</Application>
  <PresentationFormat>Widescreen</PresentationFormat>
  <Paragraphs>169</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 Light</vt:lpstr>
      <vt:lpstr>Arial</vt:lpstr>
      <vt:lpstr>Calibri</vt:lpstr>
      <vt:lpstr>Walbaum Display</vt:lpstr>
      <vt:lpstr>Shoji</vt:lpstr>
      <vt:lpstr>AgriAgent: An Agentic Multimodal Framework for Adaptive Agricultural Decision Support Using Satellite and Weather Intelligence Capstone Project Guidance Call - 2 </vt:lpstr>
      <vt:lpstr>Table of Content</vt:lpstr>
      <vt:lpstr>AgriAgent: An Agentic Multimodal Framework for Adaptive Agricultural Decision Support Using Satellite and Weather Intelligence</vt:lpstr>
      <vt:lpstr>PowerPoint Presentation</vt:lpstr>
      <vt:lpstr>PowerPoint Presentation</vt:lpstr>
      <vt:lpstr>Key Dataset Sources for AgriAgent </vt:lpstr>
      <vt:lpstr>Comparison Table</vt:lpstr>
      <vt:lpstr>Kaggle Datasets</vt:lpstr>
      <vt:lpstr>Questions on Kaggle vs. Actual Satellite Data</vt:lpstr>
      <vt:lpstr>PowerPoint Presentation</vt:lpstr>
      <vt:lpstr>PowerPoint Presentation</vt:lpstr>
      <vt:lpstr>Dataset Selection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PALLAVI B N</dc:creator>
  <cp:lastModifiedBy>PALLAVI B N</cp:lastModifiedBy>
  <cp:revision>46</cp:revision>
  <dcterms:created xsi:type="dcterms:W3CDTF">2026-09-12T04:41:05Z</dcterms:created>
  <dcterms:modified xsi:type="dcterms:W3CDTF">2026-09-12T08:54:10Z</dcterms:modified>
</cp:coreProperties>
</file>